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embeddedFontLst>
    <p:embeddedFont>
      <p:font typeface="Times New Roman Bold Italics" charset="1" panose="02020703060505090304"/>
      <p:regular r:id="rId12"/>
    </p:embeddedFont>
    <p:embeddedFont>
      <p:font typeface="Garamond" charset="1" panose="02020404030301010803"/>
      <p:regular r:id="rId13"/>
    </p:embeddedFont>
    <p:embeddedFont>
      <p:font typeface="Arial" charset="1" panose="020B0604020202020204"/>
      <p:regular r:id="rId14"/>
    </p:embeddedFont>
    <p:embeddedFont>
      <p:font typeface="Arial Bold Italics" charset="1" panose="020B0704020202090204"/>
      <p:regular r:id="rId15"/>
    </p:embeddedFont>
    <p:embeddedFont>
      <p:font typeface="Times New Roman Bold" charset="1" panose="02020803070505020304"/>
      <p:regular r:id="rId16"/>
    </p:embeddedFont>
    <p:embeddedFont>
      <p:font typeface="Times New Roman" charset="1" panose="02020603050405020304"/>
      <p:regular r:id="rId17"/>
    </p:embeddedFont>
    <p:embeddedFont>
      <p:font typeface="Arial Italics" charset="1" panose="020B0604020202090204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4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4.png" Type="http://schemas.openxmlformats.org/officeDocument/2006/relationships/image"/><Relationship Id="rId8" Target="../media/image15.jpe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4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4.pn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3890" y="52489"/>
            <a:ext cx="9270997" cy="6984997"/>
          </a:xfrm>
          <a:custGeom>
            <a:avLst/>
            <a:gdLst/>
            <a:ahLst/>
            <a:cxnLst/>
            <a:rect r="r" b="b" t="t" l="l"/>
            <a:pathLst>
              <a:path h="6984997" w="9270997">
                <a:moveTo>
                  <a:pt x="0" y="0"/>
                </a:moveTo>
                <a:lnTo>
                  <a:pt x="9270997" y="0"/>
                </a:lnTo>
                <a:lnTo>
                  <a:pt x="9270997" y="6984996"/>
                </a:lnTo>
                <a:lnTo>
                  <a:pt x="0" y="698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435339" y="2358769"/>
            <a:ext cx="3203448" cy="3425952"/>
            <a:chOff x="0" y="0"/>
            <a:chExt cx="4271264" cy="45679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1264" cy="4567936"/>
            </a:xfrm>
            <a:custGeom>
              <a:avLst/>
              <a:gdLst/>
              <a:ahLst/>
              <a:cxnLst/>
              <a:rect r="r" b="b" t="t" l="l"/>
              <a:pathLst>
                <a:path h="4567936" w="4271264">
                  <a:moveTo>
                    <a:pt x="0" y="0"/>
                  </a:moveTo>
                  <a:lnTo>
                    <a:pt x="4271264" y="0"/>
                  </a:lnTo>
                  <a:lnTo>
                    <a:pt x="4271264" y="4567936"/>
                  </a:lnTo>
                  <a:lnTo>
                    <a:pt x="0" y="4567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841992" y="6096"/>
            <a:ext cx="2209800" cy="1121664"/>
            <a:chOff x="0" y="0"/>
            <a:chExt cx="2946400" cy="14955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46400" cy="1495552"/>
            </a:xfrm>
            <a:custGeom>
              <a:avLst/>
              <a:gdLst/>
              <a:ahLst/>
              <a:cxnLst/>
              <a:rect r="r" b="b" t="t" l="l"/>
              <a:pathLst>
                <a:path h="1495552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292222" y="1209961"/>
            <a:ext cx="2492111" cy="56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b="true" sz="319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TITLE PAGE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4376" y="134274"/>
            <a:ext cx="8223056" cy="68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4"/>
              </a:lnSpc>
            </a:pPr>
            <a:r>
              <a:rPr lang="en-US" sz="4010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2245" y="2989930"/>
            <a:ext cx="7739954" cy="3331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2318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2318" i="true" spc="2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2318" i="true" spc="2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ProblemStatementID– </a:t>
            </a:r>
            <a:r>
              <a:rPr lang="en-US" b="true" sz="2318" i="true" spc="2">
                <a:solidFill>
                  <a:srgbClr val="329552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26123</a:t>
            </a:r>
          </a:p>
          <a:p>
            <a:pPr algn="l">
              <a:lnSpc>
                <a:spcPts val="1159"/>
              </a:lnSpc>
            </a:pPr>
          </a:p>
          <a:p>
            <a:pPr algn="l">
              <a:lnSpc>
                <a:spcPts val="1159"/>
              </a:lnSpc>
            </a:pPr>
          </a:p>
          <a:p>
            <a:pPr algn="l">
              <a:lnSpc>
                <a:spcPts val="3523"/>
              </a:lnSpc>
            </a:pPr>
            <a:r>
              <a:rPr lang="en-US" sz="23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2318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2318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ProblemStatementTitle- </a:t>
            </a:r>
            <a:r>
              <a:rPr lang="en-US" b="true" sz="2318" i="true">
                <a:solidFill>
                  <a:srgbClr val="2B834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Edge-AI Based Distributed</a:t>
            </a:r>
          </a:p>
          <a:p>
            <a:pPr algn="l">
              <a:lnSpc>
                <a:spcPts val="3523"/>
              </a:lnSpc>
            </a:pPr>
            <a:r>
              <a:rPr lang="en-US" b="true" sz="2318" i="true">
                <a:solidFill>
                  <a:srgbClr val="2B834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Fleet Coordination for Autonomous Mobile Robots (AMRs) in Smart Warehouses</a:t>
            </a:r>
          </a:p>
          <a:p>
            <a:pPr algn="l">
              <a:lnSpc>
                <a:spcPts val="2480"/>
              </a:lnSpc>
            </a:pPr>
          </a:p>
          <a:p>
            <a:pPr algn="l">
              <a:lnSpc>
                <a:spcPts val="2480"/>
              </a:lnSpc>
            </a:pPr>
            <a:r>
              <a:rPr lang="en-US" sz="231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2318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2318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Theme- </a:t>
            </a:r>
            <a:r>
              <a:rPr lang="en-US" b="true" sz="2318" i="true">
                <a:solidFill>
                  <a:srgbClr val="2B834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Smart Automation</a:t>
            </a:r>
          </a:p>
          <a:p>
            <a:pPr algn="l">
              <a:lnSpc>
                <a:spcPts val="5291"/>
              </a:lnSpc>
            </a:pPr>
            <a:r>
              <a:rPr lang="en-US" sz="2320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2320" i="true" spc="2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2320" i="true" spc="2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PS</a:t>
            </a:r>
            <a:r>
              <a:rPr lang="en-US" b="true" sz="2320" i="true" spc="2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2320" i="true" spc="2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Category-</a:t>
            </a:r>
            <a:r>
              <a:rPr lang="en-US" b="true" sz="2320" i="true" spc="2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2320" i="true" spc="2">
                <a:solidFill>
                  <a:srgbClr val="2B834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Software</a:t>
            </a:r>
            <a:r>
              <a:rPr lang="en-US" b="true" sz="2320" i="true" spc="2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 </a:t>
            </a:r>
          </a:p>
          <a:p>
            <a:pPr algn="l">
              <a:lnSpc>
                <a:spcPts val="2343"/>
              </a:lnSpc>
            </a:pPr>
            <a:r>
              <a:rPr lang="en-US" sz="2320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lang="en-US" b="true" sz="2320" i="true" spc="2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</a:t>
            </a:r>
            <a:r>
              <a:rPr lang="en-US" b="true" sz="2320" i="true" spc="2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TeamName- </a:t>
            </a:r>
            <a:r>
              <a:rPr lang="en-US" b="true" sz="2320" i="true" spc="2">
                <a:solidFill>
                  <a:srgbClr val="2B834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Loose Screws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016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51199" y="252551"/>
            <a:ext cx="1072203" cy="732387"/>
          </a:xfrm>
          <a:custGeom>
            <a:avLst/>
            <a:gdLst/>
            <a:ahLst/>
            <a:cxnLst/>
            <a:rect r="r" b="b" t="t" l="l"/>
            <a:pathLst>
              <a:path h="732387" w="1072203">
                <a:moveTo>
                  <a:pt x="0" y="0"/>
                </a:moveTo>
                <a:lnTo>
                  <a:pt x="1072203" y="0"/>
                </a:lnTo>
                <a:lnTo>
                  <a:pt x="1072203" y="732386"/>
                </a:lnTo>
                <a:lnTo>
                  <a:pt x="0" y="7323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41992" y="57912"/>
            <a:ext cx="2209800" cy="1121664"/>
            <a:chOff x="0" y="0"/>
            <a:chExt cx="2946400" cy="14955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46400" cy="1495552"/>
            </a:xfrm>
            <a:custGeom>
              <a:avLst/>
              <a:gdLst/>
              <a:ahLst/>
              <a:cxnLst/>
              <a:rect r="r" b="b" t="t" l="l"/>
              <a:pathLst>
                <a:path h="1495552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77791" y="1267453"/>
            <a:ext cx="5518209" cy="2647090"/>
          </a:xfrm>
          <a:custGeom>
            <a:avLst/>
            <a:gdLst/>
            <a:ahLst/>
            <a:cxnLst/>
            <a:rect r="r" b="b" t="t" l="l"/>
            <a:pathLst>
              <a:path h="2647090" w="5518209">
                <a:moveTo>
                  <a:pt x="0" y="0"/>
                </a:moveTo>
                <a:lnTo>
                  <a:pt x="5518209" y="0"/>
                </a:lnTo>
                <a:lnTo>
                  <a:pt x="5518209" y="2647090"/>
                </a:lnTo>
                <a:lnTo>
                  <a:pt x="0" y="26470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23523" y="1267453"/>
            <a:ext cx="5473319" cy="2599972"/>
          </a:xfrm>
          <a:custGeom>
            <a:avLst/>
            <a:gdLst/>
            <a:ahLst/>
            <a:cxnLst/>
            <a:rect r="r" b="b" t="t" l="l"/>
            <a:pathLst>
              <a:path h="2599972" w="5473319">
                <a:moveTo>
                  <a:pt x="0" y="0"/>
                </a:moveTo>
                <a:lnTo>
                  <a:pt x="5473318" y="0"/>
                </a:lnTo>
                <a:lnTo>
                  <a:pt x="5473318" y="2599972"/>
                </a:lnTo>
                <a:lnTo>
                  <a:pt x="0" y="25999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86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7791" y="4431661"/>
            <a:ext cx="11070451" cy="1736677"/>
          </a:xfrm>
          <a:custGeom>
            <a:avLst/>
            <a:gdLst/>
            <a:ahLst/>
            <a:cxnLst/>
            <a:rect r="r" b="b" t="t" l="l"/>
            <a:pathLst>
              <a:path h="1736677" w="11070451">
                <a:moveTo>
                  <a:pt x="0" y="0"/>
                </a:moveTo>
                <a:lnTo>
                  <a:pt x="11070451" y="0"/>
                </a:lnTo>
                <a:lnTo>
                  <a:pt x="11070451" y="1736677"/>
                </a:lnTo>
                <a:lnTo>
                  <a:pt x="0" y="17366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3156387">
            <a:off x="1047812" y="479811"/>
            <a:ext cx="347218" cy="243053"/>
          </a:xfrm>
          <a:custGeom>
            <a:avLst/>
            <a:gdLst/>
            <a:ahLst/>
            <a:cxnLst/>
            <a:rect r="r" b="b" t="t" l="l"/>
            <a:pathLst>
              <a:path h="243053" w="347218">
                <a:moveTo>
                  <a:pt x="0" y="0"/>
                </a:moveTo>
                <a:lnTo>
                  <a:pt x="347218" y="0"/>
                </a:lnTo>
                <a:lnTo>
                  <a:pt x="347218" y="243053"/>
                </a:lnTo>
                <a:lnTo>
                  <a:pt x="0" y="2430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46832" y="178646"/>
            <a:ext cx="2674020" cy="63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IDEA TITLE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21907" y="6418745"/>
            <a:ext cx="2302707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submission-Template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07397" y="6418745"/>
            <a:ext cx="86430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4714" y="1493679"/>
            <a:ext cx="1448753" cy="51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</a:pPr>
            <a:r>
              <a:rPr lang="en-US" b="true" sz="1472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PROBLEM: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87301" y="1825124"/>
            <a:ext cx="4899189" cy="189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792" indent="-151396" lvl="1">
              <a:lnSpc>
                <a:spcPts val="1963"/>
              </a:lnSpc>
              <a:buFont typeface="Arial"/>
              <a:buChar char="•"/>
            </a:pPr>
            <a:r>
              <a:rPr lang="en-US" sz="14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control: most AMR fleets depend on one server for task allocati</a:t>
            </a:r>
            <a:r>
              <a:rPr lang="en-US" sz="14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on.</a:t>
            </a:r>
          </a:p>
          <a:p>
            <a:pPr algn="l" marL="302792" indent="-151396" lvl="1">
              <a:lnSpc>
                <a:spcPts val="1963"/>
              </a:lnSpc>
              <a:buFont typeface="Arial"/>
              <a:buChar char="•"/>
            </a:pPr>
            <a:r>
              <a:rPr lang="en-US" sz="14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point of failure: a server outage halts every robot at once.</a:t>
            </a:r>
          </a:p>
          <a:p>
            <a:pPr algn="l" marL="302792" indent="-151396" lvl="1">
              <a:lnSpc>
                <a:spcPts val="1963"/>
              </a:lnSpc>
              <a:buFont typeface="Arial"/>
              <a:buChar char="•"/>
            </a:pPr>
            <a:r>
              <a:rPr lang="en-US" sz="14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Costly downtime: stalled fleets mean delayed shipments and lost throughput.</a:t>
            </a:r>
          </a:p>
          <a:p>
            <a:pPr algn="l" marL="302792" indent="-151396" lvl="1">
              <a:lnSpc>
                <a:spcPts val="1963"/>
              </a:lnSpc>
              <a:buFont typeface="Arial"/>
              <a:buChar char="•"/>
            </a:pPr>
            <a:r>
              <a:rPr lang="en-US" sz="140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graceful degradation: existing systems have no fallback coordination mode.</a:t>
            </a:r>
          </a:p>
          <a:p>
            <a:pPr algn="l">
              <a:lnSpc>
                <a:spcPts val="1263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423523" y="1452192"/>
            <a:ext cx="2260087" cy="318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8"/>
              </a:lnSpc>
              <a:spcBef>
                <a:spcPct val="0"/>
              </a:spcBef>
            </a:pPr>
            <a:r>
              <a:rPr lang="en-US" b="true" sz="1727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00998" y="1815599"/>
            <a:ext cx="5318368" cy="193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4218" indent="-147109" lvl="1">
              <a:lnSpc>
                <a:spcPts val="1907"/>
              </a:lnSpc>
              <a:buFont typeface="Arial"/>
              <a:buChar char="•"/>
            </a:pPr>
            <a:r>
              <a:rPr lang="en-US" sz="136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Peer-to-peer edge coordination — robots talk directly, no single choke point.</a:t>
            </a:r>
          </a:p>
          <a:p>
            <a:pPr algn="l" marL="294218" indent="-147109" lvl="1">
              <a:lnSpc>
                <a:spcPts val="1907"/>
              </a:lnSpc>
              <a:buFont typeface="Arial"/>
              <a:buChar char="•"/>
            </a:pPr>
            <a:r>
              <a:rPr lang="en-US" sz="136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failover: fleet keeps operating the instant the central server drops.</a:t>
            </a:r>
          </a:p>
          <a:p>
            <a:pPr algn="l" marL="294218" indent="-147109" lvl="1">
              <a:lnSpc>
                <a:spcPts val="1907"/>
              </a:lnSpc>
              <a:buFont typeface="Arial"/>
              <a:buChar char="•"/>
            </a:pPr>
            <a:r>
              <a:rPr lang="en-US" sz="136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congestion prediction with automatic rerouting around bottlenecks.</a:t>
            </a:r>
          </a:p>
          <a:p>
            <a:pPr algn="l" marL="294218" indent="-147109" lvl="1">
              <a:lnSpc>
                <a:spcPts val="1907"/>
              </a:lnSpc>
              <a:buFont typeface="Arial"/>
              <a:buChar char="•"/>
            </a:pPr>
            <a:r>
              <a:rPr lang="en-US" sz="136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warehouse digital twin for real-time monitoring &amp; collision prevention.</a:t>
            </a:r>
          </a:p>
          <a:p>
            <a:pPr algn="l">
              <a:lnSpc>
                <a:spcPts val="190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58853" y="3979781"/>
            <a:ext cx="1290601" cy="36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  <a:spcBef>
                <a:spcPct val="0"/>
              </a:spcBef>
            </a:pPr>
            <a:r>
              <a:rPr lang="en-US" b="true" sz="127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</a:t>
            </a:r>
            <a:r>
              <a:rPr lang="en-US" b="true" sz="127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 FEATURES:</a:t>
            </a:r>
          </a:p>
          <a:p>
            <a:pPr algn="ctr">
              <a:lnSpc>
                <a:spcPts val="1116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403414" y="447223"/>
            <a:ext cx="722600" cy="36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1"/>
              </a:lnSpc>
            </a:pPr>
            <a:r>
              <a:rPr lang="en-US" b="true" sz="1179" i="true" spc="11">
                <a:solidFill>
                  <a:srgbClr val="4A545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LOOSE </a:t>
            </a:r>
          </a:p>
          <a:p>
            <a:pPr algn="ctr">
              <a:lnSpc>
                <a:spcPts val="1232"/>
              </a:lnSpc>
              <a:spcBef>
                <a:spcPct val="0"/>
              </a:spcBef>
            </a:pPr>
            <a:r>
              <a:rPr lang="en-US" b="true" sz="880" i="true" spc="8">
                <a:solidFill>
                  <a:srgbClr val="4A545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      SCREWS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3489" y="177289"/>
            <a:ext cx="1404109" cy="959101"/>
          </a:xfrm>
          <a:custGeom>
            <a:avLst/>
            <a:gdLst/>
            <a:ahLst/>
            <a:cxnLst/>
            <a:rect r="r" b="b" t="t" l="l"/>
            <a:pathLst>
              <a:path h="959101" w="1404109">
                <a:moveTo>
                  <a:pt x="0" y="0"/>
                </a:moveTo>
                <a:lnTo>
                  <a:pt x="1404109" y="0"/>
                </a:lnTo>
                <a:lnTo>
                  <a:pt x="1404109" y="959101"/>
                </a:lnTo>
                <a:lnTo>
                  <a:pt x="0" y="9591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41992" y="57912"/>
            <a:ext cx="2209800" cy="1121664"/>
            <a:chOff x="0" y="0"/>
            <a:chExt cx="2946400" cy="14955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46400" cy="1495552"/>
            </a:xfrm>
            <a:custGeom>
              <a:avLst/>
              <a:gdLst/>
              <a:ahLst/>
              <a:cxnLst/>
              <a:rect r="r" b="b" t="t" l="l"/>
              <a:pathLst>
                <a:path h="1495552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85800" y="1126021"/>
            <a:ext cx="5721873" cy="5229059"/>
          </a:xfrm>
          <a:custGeom>
            <a:avLst/>
            <a:gdLst/>
            <a:ahLst/>
            <a:cxnLst/>
            <a:rect r="r" b="b" t="t" l="l"/>
            <a:pathLst>
              <a:path h="5229059" w="5721873">
                <a:moveTo>
                  <a:pt x="0" y="0"/>
                </a:moveTo>
                <a:lnTo>
                  <a:pt x="5721873" y="0"/>
                </a:lnTo>
                <a:lnTo>
                  <a:pt x="5721873" y="5229059"/>
                </a:lnTo>
                <a:lnTo>
                  <a:pt x="0" y="52290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159081" y="1190240"/>
            <a:ext cx="4347119" cy="5100620"/>
          </a:xfrm>
          <a:custGeom>
            <a:avLst/>
            <a:gdLst/>
            <a:ahLst/>
            <a:cxnLst/>
            <a:rect r="r" b="b" t="t" l="l"/>
            <a:pathLst>
              <a:path h="5100620" w="4347119">
                <a:moveTo>
                  <a:pt x="0" y="0"/>
                </a:moveTo>
                <a:lnTo>
                  <a:pt x="4347119" y="0"/>
                </a:lnTo>
                <a:lnTo>
                  <a:pt x="4347119" y="5100620"/>
                </a:lnTo>
                <a:lnTo>
                  <a:pt x="0" y="51006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84804" y="170145"/>
            <a:ext cx="5529863" cy="63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b="true" sz="36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TECHNICAL APPROACH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21907" y="6418745"/>
            <a:ext cx="2302707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submission-Template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07397" y="6418745"/>
            <a:ext cx="86430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3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3156387">
            <a:off x="1064261" y="446535"/>
            <a:ext cx="548517" cy="383962"/>
          </a:xfrm>
          <a:custGeom>
            <a:avLst/>
            <a:gdLst/>
            <a:ahLst/>
            <a:cxnLst/>
            <a:rect r="r" b="b" t="t" l="l"/>
            <a:pathLst>
              <a:path h="383962" w="548517">
                <a:moveTo>
                  <a:pt x="0" y="0"/>
                </a:moveTo>
                <a:lnTo>
                  <a:pt x="548516" y="0"/>
                </a:lnTo>
                <a:lnTo>
                  <a:pt x="548516" y="383961"/>
                </a:lnTo>
                <a:lnTo>
                  <a:pt x="0" y="383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01114" y="426444"/>
            <a:ext cx="933631" cy="471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4"/>
              </a:lnSpc>
            </a:pPr>
            <a:r>
              <a:rPr lang="en-US" b="true" sz="1524" i="true" spc="15">
                <a:solidFill>
                  <a:srgbClr val="4A545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LOOSE </a:t>
            </a:r>
          </a:p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137" i="true" spc="11">
                <a:solidFill>
                  <a:srgbClr val="4A545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      SCREWS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3489" y="177289"/>
            <a:ext cx="1404109" cy="959101"/>
          </a:xfrm>
          <a:custGeom>
            <a:avLst/>
            <a:gdLst/>
            <a:ahLst/>
            <a:cxnLst/>
            <a:rect r="r" b="b" t="t" l="l"/>
            <a:pathLst>
              <a:path h="959101" w="1404109">
                <a:moveTo>
                  <a:pt x="0" y="0"/>
                </a:moveTo>
                <a:lnTo>
                  <a:pt x="1404109" y="0"/>
                </a:lnTo>
                <a:lnTo>
                  <a:pt x="1404109" y="959101"/>
                </a:lnTo>
                <a:lnTo>
                  <a:pt x="0" y="9591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41992" y="57912"/>
            <a:ext cx="2209800" cy="1121664"/>
            <a:chOff x="0" y="0"/>
            <a:chExt cx="2946400" cy="14955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46400" cy="1495552"/>
            </a:xfrm>
            <a:custGeom>
              <a:avLst/>
              <a:gdLst/>
              <a:ahLst/>
              <a:cxnLst/>
              <a:rect r="r" b="b" t="t" l="l"/>
              <a:pathLst>
                <a:path h="1495552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24000">
            <a:off x="6771353" y="3448986"/>
            <a:ext cx="4627254" cy="2665946"/>
          </a:xfrm>
          <a:custGeom>
            <a:avLst/>
            <a:gdLst/>
            <a:ahLst/>
            <a:cxnLst/>
            <a:rect r="r" b="b" t="t" l="l"/>
            <a:pathLst>
              <a:path h="2665946" w="4627254">
                <a:moveTo>
                  <a:pt x="18388" y="0"/>
                </a:moveTo>
                <a:lnTo>
                  <a:pt x="4627254" y="32177"/>
                </a:lnTo>
                <a:lnTo>
                  <a:pt x="4608866" y="2665946"/>
                </a:lnTo>
                <a:lnTo>
                  <a:pt x="0" y="2633769"/>
                </a:lnTo>
                <a:lnTo>
                  <a:pt x="18388" y="0"/>
                </a:lnTo>
                <a:close/>
              </a:path>
            </a:pathLst>
          </a:custGeom>
          <a:blipFill>
            <a:blip r:embed="rId8"/>
            <a:stretch>
              <a:fillRect l="-5631" t="-4857" r="-10530" b="-1073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67929" y="3369083"/>
            <a:ext cx="4731039" cy="2825752"/>
          </a:xfrm>
          <a:custGeom>
            <a:avLst/>
            <a:gdLst/>
            <a:ahLst/>
            <a:cxnLst/>
            <a:rect r="r" b="b" t="t" l="l"/>
            <a:pathLst>
              <a:path h="2825752" w="4731039">
                <a:moveTo>
                  <a:pt x="0" y="0"/>
                </a:moveTo>
                <a:lnTo>
                  <a:pt x="4731039" y="0"/>
                </a:lnTo>
                <a:lnTo>
                  <a:pt x="4731039" y="2825752"/>
                </a:lnTo>
                <a:lnTo>
                  <a:pt x="0" y="28257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306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41293" y="1136390"/>
            <a:ext cx="5748473" cy="2074952"/>
            <a:chOff x="0" y="0"/>
            <a:chExt cx="2271002" cy="8197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71001" cy="819734"/>
            </a:xfrm>
            <a:custGeom>
              <a:avLst/>
              <a:gdLst/>
              <a:ahLst/>
              <a:cxnLst/>
              <a:rect r="r" b="b" t="t" l="l"/>
              <a:pathLst>
                <a:path h="819734" w="2271001">
                  <a:moveTo>
                    <a:pt x="45790" y="0"/>
                  </a:moveTo>
                  <a:lnTo>
                    <a:pt x="2225211" y="0"/>
                  </a:lnTo>
                  <a:cubicBezTo>
                    <a:pt x="2237355" y="0"/>
                    <a:pt x="2249002" y="4824"/>
                    <a:pt x="2257590" y="13412"/>
                  </a:cubicBezTo>
                  <a:cubicBezTo>
                    <a:pt x="2266177" y="21999"/>
                    <a:pt x="2271001" y="33646"/>
                    <a:pt x="2271001" y="45790"/>
                  </a:cubicBezTo>
                  <a:lnTo>
                    <a:pt x="2271001" y="773944"/>
                  </a:lnTo>
                  <a:cubicBezTo>
                    <a:pt x="2271001" y="786088"/>
                    <a:pt x="2266177" y="797735"/>
                    <a:pt x="2257590" y="806322"/>
                  </a:cubicBezTo>
                  <a:cubicBezTo>
                    <a:pt x="2249002" y="814910"/>
                    <a:pt x="2237355" y="819734"/>
                    <a:pt x="2225211" y="819734"/>
                  </a:cubicBezTo>
                  <a:lnTo>
                    <a:pt x="45790" y="819734"/>
                  </a:lnTo>
                  <a:cubicBezTo>
                    <a:pt x="33646" y="819734"/>
                    <a:pt x="21999" y="814910"/>
                    <a:pt x="13412" y="806322"/>
                  </a:cubicBezTo>
                  <a:cubicBezTo>
                    <a:pt x="4824" y="797735"/>
                    <a:pt x="0" y="786088"/>
                    <a:pt x="0" y="773944"/>
                  </a:cubicBezTo>
                  <a:lnTo>
                    <a:pt x="0" y="45790"/>
                  </a:lnTo>
                  <a:cubicBezTo>
                    <a:pt x="0" y="33646"/>
                    <a:pt x="4824" y="21999"/>
                    <a:pt x="13412" y="13412"/>
                  </a:cubicBezTo>
                  <a:cubicBezTo>
                    <a:pt x="21999" y="4824"/>
                    <a:pt x="33646" y="0"/>
                    <a:pt x="45790" y="0"/>
                  </a:cubicBezTo>
                  <a:close/>
                </a:path>
              </a:pathLst>
            </a:custGeom>
            <a:solidFill>
              <a:srgbClr val="2D3B5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71002" cy="8578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823715" y="170145"/>
            <a:ext cx="6686693" cy="63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b="true" sz="36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FEASIBILITY AND VIABILITY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21907" y="6418745"/>
            <a:ext cx="2302707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submission-Template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07397" y="6418745"/>
            <a:ext cx="86430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9362" y="1160040"/>
            <a:ext cx="4171355" cy="175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7"/>
              </a:lnSpc>
            </a:pPr>
            <a:r>
              <a:rPr lang="en-US" b="true" sz="1965" spc="19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TECHNICALLY FEASIBLE</a:t>
            </a:r>
          </a:p>
          <a:p>
            <a:pPr algn="l" marL="364242" indent="-182121" lvl="1">
              <a:lnSpc>
                <a:spcPts val="2361"/>
              </a:lnSpc>
              <a:buFont typeface="Arial"/>
              <a:buChar char="•"/>
            </a:pPr>
            <a:r>
              <a:rPr lang="en-US" sz="1687" spc="1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ROS 2 + DDS → P2P coordination</a:t>
            </a:r>
          </a:p>
          <a:p>
            <a:pPr algn="l" marL="364242" indent="-182121" lvl="1">
              <a:lnSpc>
                <a:spcPts val="2361"/>
              </a:lnSpc>
              <a:buFont typeface="Arial"/>
              <a:buChar char="•"/>
            </a:pPr>
            <a:r>
              <a:rPr lang="en-US" sz="1687" spc="1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ORCA / NH-ORCA → real-time avoidance</a:t>
            </a:r>
          </a:p>
          <a:p>
            <a:pPr algn="l" marL="364242" indent="-182121" lvl="1">
              <a:lnSpc>
                <a:spcPts val="2361"/>
              </a:lnSpc>
              <a:buFont typeface="Arial"/>
              <a:buChar char="•"/>
            </a:pPr>
            <a:r>
              <a:rPr lang="en-US" sz="1687" spc="1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Priority-based planning → 20+ AMRs</a:t>
            </a:r>
          </a:p>
          <a:p>
            <a:pPr algn="l" marL="364242" indent="-182121" lvl="1">
              <a:lnSpc>
                <a:spcPts val="2361"/>
              </a:lnSpc>
              <a:buFont typeface="Arial"/>
              <a:buChar char="•"/>
            </a:pPr>
            <a:r>
              <a:rPr lang="en-US" sz="1687" spc="1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Edge-AI → predictive traffic management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273260" y="1136390"/>
            <a:ext cx="5778532" cy="2072448"/>
            <a:chOff x="0" y="0"/>
            <a:chExt cx="2282877" cy="8187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2877" cy="818745"/>
            </a:xfrm>
            <a:custGeom>
              <a:avLst/>
              <a:gdLst/>
              <a:ahLst/>
              <a:cxnLst/>
              <a:rect r="r" b="b" t="t" l="l"/>
              <a:pathLst>
                <a:path h="818745" w="2282877">
                  <a:moveTo>
                    <a:pt x="45552" y="0"/>
                  </a:moveTo>
                  <a:lnTo>
                    <a:pt x="2237324" y="0"/>
                  </a:lnTo>
                  <a:cubicBezTo>
                    <a:pt x="2249406" y="0"/>
                    <a:pt x="2260992" y="4799"/>
                    <a:pt x="2269535" y="13342"/>
                  </a:cubicBezTo>
                  <a:cubicBezTo>
                    <a:pt x="2278077" y="21885"/>
                    <a:pt x="2282877" y="33471"/>
                    <a:pt x="2282877" y="45552"/>
                  </a:cubicBezTo>
                  <a:lnTo>
                    <a:pt x="2282877" y="773193"/>
                  </a:lnTo>
                  <a:cubicBezTo>
                    <a:pt x="2282877" y="798351"/>
                    <a:pt x="2262482" y="818745"/>
                    <a:pt x="2237324" y="818745"/>
                  </a:cubicBezTo>
                  <a:lnTo>
                    <a:pt x="45552" y="818745"/>
                  </a:lnTo>
                  <a:cubicBezTo>
                    <a:pt x="33471" y="818745"/>
                    <a:pt x="21885" y="813946"/>
                    <a:pt x="13342" y="805403"/>
                  </a:cubicBezTo>
                  <a:cubicBezTo>
                    <a:pt x="4799" y="796860"/>
                    <a:pt x="0" y="785274"/>
                    <a:pt x="0" y="773193"/>
                  </a:cubicBezTo>
                  <a:lnTo>
                    <a:pt x="0" y="45552"/>
                  </a:lnTo>
                  <a:cubicBezTo>
                    <a:pt x="0" y="20394"/>
                    <a:pt x="20394" y="0"/>
                    <a:pt x="45552" y="0"/>
                  </a:cubicBezTo>
                  <a:close/>
                </a:path>
              </a:pathLst>
            </a:custGeom>
            <a:solidFill>
              <a:srgbClr val="2D3B5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82877" cy="856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780491" y="1163877"/>
            <a:ext cx="4747400" cy="1811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8"/>
              </a:lnSpc>
            </a:pPr>
            <a:r>
              <a:rPr lang="en-US" b="true" sz="1984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OPERATIONALLY VIABLE</a:t>
            </a:r>
          </a:p>
          <a:p>
            <a:pPr algn="l" marL="389592" indent="-194796" lvl="1">
              <a:lnSpc>
                <a:spcPts val="2526"/>
              </a:lnSpc>
              <a:spcBef>
                <a:spcPct val="0"/>
              </a:spcBef>
              <a:buFont typeface="Arial"/>
              <a:buChar char="•"/>
            </a:pPr>
            <a:r>
              <a:rPr lang="en-US" sz="180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failure resilient</a:t>
            </a:r>
          </a:p>
          <a:p>
            <a:pPr algn="l" marL="389592" indent="-194796" lvl="1">
              <a:lnSpc>
                <a:spcPts val="2526"/>
              </a:lnSpc>
              <a:spcBef>
                <a:spcPct val="0"/>
              </a:spcBef>
              <a:buFont typeface="Arial"/>
              <a:buChar char="•"/>
            </a:pPr>
            <a:r>
              <a:rPr lang="en-US" sz="180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&lt;5 s recovery target</a:t>
            </a:r>
          </a:p>
          <a:p>
            <a:pPr algn="l" marL="389592" indent="-194796" lvl="1">
              <a:lnSpc>
                <a:spcPts val="2526"/>
              </a:lnSpc>
              <a:spcBef>
                <a:spcPct val="0"/>
              </a:spcBef>
              <a:buFont typeface="Arial"/>
              <a:buChar char="•"/>
            </a:pPr>
            <a:r>
              <a:rPr lang="en-US" sz="180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&gt;95% task completion target</a:t>
            </a:r>
          </a:p>
          <a:p>
            <a:pPr algn="l" marL="389592" indent="-194796" lvl="1">
              <a:lnSpc>
                <a:spcPts val="2526"/>
              </a:lnSpc>
              <a:buFont typeface="Arial"/>
              <a:buChar char="•"/>
            </a:pPr>
            <a:r>
              <a:rPr lang="en-US" sz="180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collision target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3156387">
            <a:off x="1064261" y="437010"/>
            <a:ext cx="548517" cy="383962"/>
          </a:xfrm>
          <a:custGeom>
            <a:avLst/>
            <a:gdLst/>
            <a:ahLst/>
            <a:cxnLst/>
            <a:rect r="r" b="b" t="t" l="l"/>
            <a:pathLst>
              <a:path h="383962" w="548517">
                <a:moveTo>
                  <a:pt x="0" y="0"/>
                </a:moveTo>
                <a:lnTo>
                  <a:pt x="548516" y="0"/>
                </a:lnTo>
                <a:lnTo>
                  <a:pt x="548516" y="383961"/>
                </a:lnTo>
                <a:lnTo>
                  <a:pt x="0" y="383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01114" y="416919"/>
            <a:ext cx="933631" cy="471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4"/>
              </a:lnSpc>
            </a:pPr>
            <a:r>
              <a:rPr lang="en-US" b="true" sz="1524" i="true" spc="15">
                <a:solidFill>
                  <a:srgbClr val="4A545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LOOSE </a:t>
            </a:r>
          </a:p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137" i="true" spc="11">
                <a:solidFill>
                  <a:srgbClr val="4A545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      SCREWS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3489" y="177289"/>
            <a:ext cx="1404109" cy="959101"/>
          </a:xfrm>
          <a:custGeom>
            <a:avLst/>
            <a:gdLst/>
            <a:ahLst/>
            <a:cxnLst/>
            <a:rect r="r" b="b" t="t" l="l"/>
            <a:pathLst>
              <a:path h="959101" w="1404109">
                <a:moveTo>
                  <a:pt x="0" y="0"/>
                </a:moveTo>
                <a:lnTo>
                  <a:pt x="1404109" y="0"/>
                </a:lnTo>
                <a:lnTo>
                  <a:pt x="1404109" y="959101"/>
                </a:lnTo>
                <a:lnTo>
                  <a:pt x="0" y="9591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812716" y="868956"/>
            <a:ext cx="1556963" cy="1630327"/>
          </a:xfrm>
          <a:custGeom>
            <a:avLst/>
            <a:gdLst/>
            <a:ahLst/>
            <a:cxnLst/>
            <a:rect r="r" b="b" t="t" l="l"/>
            <a:pathLst>
              <a:path h="1630327" w="1556963">
                <a:moveTo>
                  <a:pt x="0" y="0"/>
                </a:moveTo>
                <a:lnTo>
                  <a:pt x="1556963" y="0"/>
                </a:lnTo>
                <a:lnTo>
                  <a:pt x="1556963" y="1630327"/>
                </a:lnTo>
                <a:lnTo>
                  <a:pt x="0" y="1630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456772" y="150882"/>
            <a:ext cx="1565405" cy="794578"/>
            <a:chOff x="0" y="0"/>
            <a:chExt cx="2946400" cy="14955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46400" cy="1495552"/>
            </a:xfrm>
            <a:custGeom>
              <a:avLst/>
              <a:gdLst/>
              <a:ahLst/>
              <a:cxnLst/>
              <a:rect r="r" b="b" t="t" l="l"/>
              <a:pathLst>
                <a:path h="1495552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3156387">
            <a:off x="1064261" y="446535"/>
            <a:ext cx="548517" cy="383962"/>
          </a:xfrm>
          <a:custGeom>
            <a:avLst/>
            <a:gdLst/>
            <a:ahLst/>
            <a:cxnLst/>
            <a:rect r="r" b="b" t="t" l="l"/>
            <a:pathLst>
              <a:path h="383962" w="548517">
                <a:moveTo>
                  <a:pt x="0" y="0"/>
                </a:moveTo>
                <a:lnTo>
                  <a:pt x="548516" y="0"/>
                </a:lnTo>
                <a:lnTo>
                  <a:pt x="548516" y="383961"/>
                </a:lnTo>
                <a:lnTo>
                  <a:pt x="0" y="3839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00777" y="2575483"/>
            <a:ext cx="1980841" cy="1980841"/>
          </a:xfrm>
          <a:custGeom>
            <a:avLst/>
            <a:gdLst/>
            <a:ahLst/>
            <a:cxnLst/>
            <a:rect r="r" b="b" t="t" l="l"/>
            <a:pathLst>
              <a:path h="1980841" w="1980841">
                <a:moveTo>
                  <a:pt x="0" y="0"/>
                </a:moveTo>
                <a:lnTo>
                  <a:pt x="1980841" y="0"/>
                </a:lnTo>
                <a:lnTo>
                  <a:pt x="1980841" y="1980841"/>
                </a:lnTo>
                <a:lnTo>
                  <a:pt x="0" y="198084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67614" y="2749188"/>
            <a:ext cx="1556963" cy="1630327"/>
          </a:xfrm>
          <a:custGeom>
            <a:avLst/>
            <a:gdLst/>
            <a:ahLst/>
            <a:cxnLst/>
            <a:rect r="r" b="b" t="t" l="l"/>
            <a:pathLst>
              <a:path h="1630327" w="1556963">
                <a:moveTo>
                  <a:pt x="0" y="0"/>
                </a:moveTo>
                <a:lnTo>
                  <a:pt x="1556963" y="0"/>
                </a:lnTo>
                <a:lnTo>
                  <a:pt x="1556963" y="1630327"/>
                </a:lnTo>
                <a:lnTo>
                  <a:pt x="0" y="1630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72454" y="3326905"/>
            <a:ext cx="585670" cy="409969"/>
          </a:xfrm>
          <a:custGeom>
            <a:avLst/>
            <a:gdLst/>
            <a:ahLst/>
            <a:cxnLst/>
            <a:rect r="r" b="b" t="t" l="l"/>
            <a:pathLst>
              <a:path h="409969" w="585670">
                <a:moveTo>
                  <a:pt x="0" y="0"/>
                </a:moveTo>
                <a:lnTo>
                  <a:pt x="585669" y="0"/>
                </a:lnTo>
                <a:lnTo>
                  <a:pt x="585669" y="409969"/>
                </a:lnTo>
                <a:lnTo>
                  <a:pt x="0" y="409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657818" y="2641202"/>
            <a:ext cx="1556963" cy="1630327"/>
          </a:xfrm>
          <a:custGeom>
            <a:avLst/>
            <a:gdLst/>
            <a:ahLst/>
            <a:cxnLst/>
            <a:rect r="r" b="b" t="t" l="l"/>
            <a:pathLst>
              <a:path h="1630327" w="1556963">
                <a:moveTo>
                  <a:pt x="0" y="0"/>
                </a:moveTo>
                <a:lnTo>
                  <a:pt x="1556962" y="0"/>
                </a:lnTo>
                <a:lnTo>
                  <a:pt x="1556962" y="1630328"/>
                </a:lnTo>
                <a:lnTo>
                  <a:pt x="0" y="16303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0585434">
            <a:off x="10092157" y="3345254"/>
            <a:ext cx="601489" cy="421043"/>
          </a:xfrm>
          <a:custGeom>
            <a:avLst/>
            <a:gdLst/>
            <a:ahLst/>
            <a:cxnLst/>
            <a:rect r="r" b="b" t="t" l="l"/>
            <a:pathLst>
              <a:path h="421043" w="601489">
                <a:moveTo>
                  <a:pt x="0" y="0"/>
                </a:moveTo>
                <a:lnTo>
                  <a:pt x="601489" y="0"/>
                </a:lnTo>
                <a:lnTo>
                  <a:pt x="601489" y="421042"/>
                </a:lnTo>
                <a:lnTo>
                  <a:pt x="0" y="4210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9322233" y="4167055"/>
            <a:ext cx="580107" cy="406075"/>
          </a:xfrm>
          <a:custGeom>
            <a:avLst/>
            <a:gdLst/>
            <a:ahLst/>
            <a:cxnLst/>
            <a:rect r="r" b="b" t="t" l="l"/>
            <a:pathLst>
              <a:path h="406075" w="580107">
                <a:moveTo>
                  <a:pt x="0" y="0"/>
                </a:moveTo>
                <a:lnTo>
                  <a:pt x="580108" y="0"/>
                </a:lnTo>
                <a:lnTo>
                  <a:pt x="580108" y="406076"/>
                </a:lnTo>
                <a:lnTo>
                  <a:pt x="0" y="4060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9286187" y="2524444"/>
            <a:ext cx="592648" cy="414854"/>
          </a:xfrm>
          <a:custGeom>
            <a:avLst/>
            <a:gdLst/>
            <a:ahLst/>
            <a:cxnLst/>
            <a:rect r="r" b="b" t="t" l="l"/>
            <a:pathLst>
              <a:path h="414854" w="592648">
                <a:moveTo>
                  <a:pt x="0" y="0"/>
                </a:moveTo>
                <a:lnTo>
                  <a:pt x="592648" y="0"/>
                </a:lnTo>
                <a:lnTo>
                  <a:pt x="592648" y="414854"/>
                </a:lnTo>
                <a:lnTo>
                  <a:pt x="0" y="4148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5449" y="1866730"/>
            <a:ext cx="2856327" cy="4200481"/>
          </a:xfrm>
          <a:custGeom>
            <a:avLst/>
            <a:gdLst/>
            <a:ahLst/>
            <a:cxnLst/>
            <a:rect r="r" b="b" t="t" l="l"/>
            <a:pathLst>
              <a:path h="4200481" w="2856327">
                <a:moveTo>
                  <a:pt x="0" y="0"/>
                </a:moveTo>
                <a:lnTo>
                  <a:pt x="2856327" y="0"/>
                </a:lnTo>
                <a:lnTo>
                  <a:pt x="2856327" y="4200481"/>
                </a:lnTo>
                <a:lnTo>
                  <a:pt x="0" y="420048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60000">
            <a:off x="4539775" y="3409317"/>
            <a:ext cx="2328142" cy="2824234"/>
          </a:xfrm>
          <a:custGeom>
            <a:avLst/>
            <a:gdLst/>
            <a:ahLst/>
            <a:cxnLst/>
            <a:rect r="r" b="b" t="t" l="l"/>
            <a:pathLst>
              <a:path h="2824234" w="2328142">
                <a:moveTo>
                  <a:pt x="48603" y="0"/>
                </a:moveTo>
                <a:lnTo>
                  <a:pt x="2328142" y="39790"/>
                </a:lnTo>
                <a:lnTo>
                  <a:pt x="2279539" y="2824235"/>
                </a:lnTo>
                <a:lnTo>
                  <a:pt x="0" y="2784445"/>
                </a:lnTo>
                <a:lnTo>
                  <a:pt x="48603" y="0"/>
                </a:lnTo>
                <a:close/>
              </a:path>
            </a:pathLst>
          </a:custGeom>
          <a:blipFill>
            <a:blip r:embed="rId15"/>
            <a:stretch>
              <a:fillRect l="-18296" t="-5320" r="-12430" b="-244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767791" y="945460"/>
            <a:ext cx="3932202" cy="1739104"/>
          </a:xfrm>
          <a:custGeom>
            <a:avLst/>
            <a:gdLst/>
            <a:ahLst/>
            <a:cxnLst/>
            <a:rect r="r" b="b" t="t" l="l"/>
            <a:pathLst>
              <a:path h="1739104" w="3932202">
                <a:moveTo>
                  <a:pt x="0" y="0"/>
                </a:moveTo>
                <a:lnTo>
                  <a:pt x="3932202" y="0"/>
                </a:lnTo>
                <a:lnTo>
                  <a:pt x="3932202" y="1739105"/>
                </a:lnTo>
                <a:lnTo>
                  <a:pt x="0" y="1739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60980" t="-53107" r="-55535" b="-125325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482840" y="2257425"/>
            <a:ext cx="353378" cy="422910"/>
            <a:chOff x="0" y="0"/>
            <a:chExt cx="471170" cy="563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146" y="50800"/>
              <a:ext cx="370328" cy="461248"/>
            </a:xfrm>
            <a:custGeom>
              <a:avLst/>
              <a:gdLst/>
              <a:ahLst/>
              <a:cxnLst/>
              <a:rect r="r" b="b" t="t" l="l"/>
              <a:pathLst>
                <a:path h="461248" w="370328">
                  <a:moveTo>
                    <a:pt x="370224" y="87630"/>
                  </a:moveTo>
                  <a:cubicBezTo>
                    <a:pt x="307994" y="340360"/>
                    <a:pt x="280054" y="342900"/>
                    <a:pt x="263544" y="361950"/>
                  </a:cubicBezTo>
                  <a:cubicBezTo>
                    <a:pt x="244494" y="383540"/>
                    <a:pt x="241954" y="419100"/>
                    <a:pt x="217824" y="435610"/>
                  </a:cubicBezTo>
                  <a:cubicBezTo>
                    <a:pt x="188614" y="455930"/>
                    <a:pt x="118764" y="461010"/>
                    <a:pt x="87014" y="461010"/>
                  </a:cubicBezTo>
                  <a:cubicBezTo>
                    <a:pt x="70504" y="461010"/>
                    <a:pt x="60344" y="458470"/>
                    <a:pt x="48914" y="453390"/>
                  </a:cubicBezTo>
                  <a:cubicBezTo>
                    <a:pt x="36214" y="448310"/>
                    <a:pt x="24784" y="439420"/>
                    <a:pt x="17164" y="427990"/>
                  </a:cubicBezTo>
                  <a:cubicBezTo>
                    <a:pt x="9544" y="417830"/>
                    <a:pt x="3194" y="406400"/>
                    <a:pt x="654" y="392430"/>
                  </a:cubicBezTo>
                  <a:cubicBezTo>
                    <a:pt x="-616" y="374650"/>
                    <a:pt x="3194" y="349250"/>
                    <a:pt x="12084" y="334010"/>
                  </a:cubicBezTo>
                  <a:cubicBezTo>
                    <a:pt x="22244" y="317500"/>
                    <a:pt x="42564" y="303530"/>
                    <a:pt x="60344" y="297180"/>
                  </a:cubicBezTo>
                  <a:cubicBezTo>
                    <a:pt x="75584" y="292100"/>
                    <a:pt x="94634" y="292100"/>
                    <a:pt x="109874" y="298450"/>
                  </a:cubicBezTo>
                  <a:cubicBezTo>
                    <a:pt x="130194" y="307340"/>
                    <a:pt x="156864" y="335280"/>
                    <a:pt x="164484" y="355600"/>
                  </a:cubicBezTo>
                  <a:cubicBezTo>
                    <a:pt x="170834" y="372110"/>
                    <a:pt x="167024" y="393700"/>
                    <a:pt x="160674" y="408940"/>
                  </a:cubicBezTo>
                  <a:cubicBezTo>
                    <a:pt x="155594" y="424180"/>
                    <a:pt x="141624" y="440690"/>
                    <a:pt x="126384" y="449580"/>
                  </a:cubicBezTo>
                  <a:cubicBezTo>
                    <a:pt x="112414" y="458470"/>
                    <a:pt x="90824" y="462280"/>
                    <a:pt x="74314" y="461010"/>
                  </a:cubicBezTo>
                  <a:cubicBezTo>
                    <a:pt x="57804" y="458470"/>
                    <a:pt x="37484" y="452120"/>
                    <a:pt x="26054" y="438150"/>
                  </a:cubicBezTo>
                  <a:cubicBezTo>
                    <a:pt x="12084" y="421640"/>
                    <a:pt x="-3156" y="387350"/>
                    <a:pt x="654" y="364490"/>
                  </a:cubicBezTo>
                  <a:cubicBezTo>
                    <a:pt x="4464" y="341630"/>
                    <a:pt x="27324" y="311150"/>
                    <a:pt x="48914" y="302260"/>
                  </a:cubicBezTo>
                  <a:cubicBezTo>
                    <a:pt x="69234" y="292100"/>
                    <a:pt x="107334" y="294640"/>
                    <a:pt x="126384" y="306070"/>
                  </a:cubicBezTo>
                  <a:cubicBezTo>
                    <a:pt x="146704" y="318770"/>
                    <a:pt x="165754" y="350520"/>
                    <a:pt x="167024" y="373380"/>
                  </a:cubicBezTo>
                  <a:cubicBezTo>
                    <a:pt x="168294" y="396240"/>
                    <a:pt x="150514" y="430530"/>
                    <a:pt x="134004" y="444500"/>
                  </a:cubicBezTo>
                  <a:cubicBezTo>
                    <a:pt x="121304" y="455930"/>
                    <a:pt x="100984" y="461010"/>
                    <a:pt x="83204" y="461010"/>
                  </a:cubicBezTo>
                  <a:cubicBezTo>
                    <a:pt x="66694" y="461010"/>
                    <a:pt x="45104" y="454660"/>
                    <a:pt x="31134" y="443230"/>
                  </a:cubicBezTo>
                  <a:cubicBezTo>
                    <a:pt x="17164" y="431800"/>
                    <a:pt x="4464" y="410210"/>
                    <a:pt x="654" y="392430"/>
                  </a:cubicBezTo>
                  <a:cubicBezTo>
                    <a:pt x="-1886" y="373380"/>
                    <a:pt x="3194" y="349250"/>
                    <a:pt x="12084" y="334010"/>
                  </a:cubicBezTo>
                  <a:cubicBezTo>
                    <a:pt x="22244" y="317500"/>
                    <a:pt x="40024" y="303530"/>
                    <a:pt x="60344" y="297180"/>
                  </a:cubicBezTo>
                  <a:cubicBezTo>
                    <a:pt x="81934" y="290830"/>
                    <a:pt x="120034" y="312420"/>
                    <a:pt x="141624" y="300990"/>
                  </a:cubicBezTo>
                  <a:cubicBezTo>
                    <a:pt x="163214" y="289560"/>
                    <a:pt x="175914" y="259080"/>
                    <a:pt x="187344" y="227330"/>
                  </a:cubicBezTo>
                  <a:cubicBezTo>
                    <a:pt x="203854" y="185420"/>
                    <a:pt x="202584" y="104140"/>
                    <a:pt x="216554" y="67310"/>
                  </a:cubicBezTo>
                  <a:cubicBezTo>
                    <a:pt x="224174" y="45720"/>
                    <a:pt x="229254" y="30480"/>
                    <a:pt x="241954" y="19050"/>
                  </a:cubicBezTo>
                  <a:cubicBezTo>
                    <a:pt x="255924" y="7620"/>
                    <a:pt x="278784" y="1270"/>
                    <a:pt x="294024" y="0"/>
                  </a:cubicBezTo>
                  <a:cubicBezTo>
                    <a:pt x="306724" y="0"/>
                    <a:pt x="319424" y="2540"/>
                    <a:pt x="329584" y="10160"/>
                  </a:cubicBezTo>
                  <a:cubicBezTo>
                    <a:pt x="343554" y="17780"/>
                    <a:pt x="360064" y="36830"/>
                    <a:pt x="365144" y="50800"/>
                  </a:cubicBezTo>
                  <a:cubicBezTo>
                    <a:pt x="371494" y="63500"/>
                    <a:pt x="370224" y="87630"/>
                    <a:pt x="370224" y="8763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461885" y="2463165"/>
            <a:ext cx="403860" cy="203835"/>
            <a:chOff x="0" y="0"/>
            <a:chExt cx="538480" cy="2717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48098" y="41487"/>
              <a:ext cx="441360" cy="184764"/>
            </a:xfrm>
            <a:custGeom>
              <a:avLst/>
              <a:gdLst/>
              <a:ahLst/>
              <a:cxnLst/>
              <a:rect r="r" b="b" t="t" l="l"/>
              <a:pathLst>
                <a:path h="184764" w="441360">
                  <a:moveTo>
                    <a:pt x="369732" y="159173"/>
                  </a:moveTo>
                  <a:cubicBezTo>
                    <a:pt x="175422" y="182033"/>
                    <a:pt x="94142" y="193463"/>
                    <a:pt x="56042" y="176953"/>
                  </a:cubicBezTo>
                  <a:cubicBezTo>
                    <a:pt x="29372" y="165523"/>
                    <a:pt x="10322" y="141393"/>
                    <a:pt x="2702" y="121073"/>
                  </a:cubicBezTo>
                  <a:cubicBezTo>
                    <a:pt x="-2378" y="104563"/>
                    <a:pt x="162" y="84243"/>
                    <a:pt x="6512" y="69003"/>
                  </a:cubicBezTo>
                  <a:cubicBezTo>
                    <a:pt x="11592" y="53763"/>
                    <a:pt x="25562" y="37253"/>
                    <a:pt x="39532" y="29633"/>
                  </a:cubicBezTo>
                  <a:cubicBezTo>
                    <a:pt x="53502" y="20743"/>
                    <a:pt x="73822" y="15663"/>
                    <a:pt x="90332" y="18203"/>
                  </a:cubicBezTo>
                  <a:cubicBezTo>
                    <a:pt x="106842" y="19473"/>
                    <a:pt x="125892" y="27093"/>
                    <a:pt x="137322" y="39793"/>
                  </a:cubicBezTo>
                  <a:cubicBezTo>
                    <a:pt x="152562" y="55033"/>
                    <a:pt x="166532" y="90593"/>
                    <a:pt x="162722" y="112183"/>
                  </a:cubicBezTo>
                  <a:cubicBezTo>
                    <a:pt x="158912" y="135043"/>
                    <a:pt x="136052" y="164253"/>
                    <a:pt x="115732" y="173143"/>
                  </a:cubicBezTo>
                  <a:cubicBezTo>
                    <a:pt x="95412" y="183303"/>
                    <a:pt x="58582" y="178223"/>
                    <a:pt x="39532" y="169333"/>
                  </a:cubicBezTo>
                  <a:cubicBezTo>
                    <a:pt x="24292" y="161713"/>
                    <a:pt x="11592" y="145203"/>
                    <a:pt x="6512" y="129963"/>
                  </a:cubicBezTo>
                  <a:cubicBezTo>
                    <a:pt x="162" y="113453"/>
                    <a:pt x="-1108" y="93133"/>
                    <a:pt x="2702" y="77893"/>
                  </a:cubicBezTo>
                  <a:cubicBezTo>
                    <a:pt x="7782" y="61383"/>
                    <a:pt x="19212" y="43603"/>
                    <a:pt x="31912" y="34713"/>
                  </a:cubicBezTo>
                  <a:cubicBezTo>
                    <a:pt x="45882" y="24553"/>
                    <a:pt x="57312" y="22013"/>
                    <a:pt x="81442" y="16933"/>
                  </a:cubicBezTo>
                  <a:cubicBezTo>
                    <a:pt x="141132" y="6773"/>
                    <a:pt x="340522" y="-11007"/>
                    <a:pt x="393862" y="9313"/>
                  </a:cubicBezTo>
                  <a:cubicBezTo>
                    <a:pt x="416722" y="18203"/>
                    <a:pt x="426882" y="32173"/>
                    <a:pt x="434502" y="47413"/>
                  </a:cubicBezTo>
                  <a:cubicBezTo>
                    <a:pt x="442122" y="62653"/>
                    <a:pt x="443392" y="85513"/>
                    <a:pt x="438312" y="102023"/>
                  </a:cubicBezTo>
                  <a:cubicBezTo>
                    <a:pt x="434502" y="118533"/>
                    <a:pt x="417992" y="137583"/>
                    <a:pt x="405292" y="146473"/>
                  </a:cubicBezTo>
                  <a:cubicBezTo>
                    <a:pt x="395132" y="154093"/>
                    <a:pt x="369732" y="159173"/>
                    <a:pt x="369732" y="15917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418336" y="3717933"/>
            <a:ext cx="1291776" cy="481070"/>
            <a:chOff x="0" y="0"/>
            <a:chExt cx="487649" cy="1816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7649" cy="181605"/>
            </a:xfrm>
            <a:custGeom>
              <a:avLst/>
              <a:gdLst/>
              <a:ahLst/>
              <a:cxnLst/>
              <a:rect r="r" b="b" t="t" l="l"/>
              <a:pathLst>
                <a:path h="181605" w="487649">
                  <a:moveTo>
                    <a:pt x="90803" y="0"/>
                  </a:moveTo>
                  <a:lnTo>
                    <a:pt x="396846" y="0"/>
                  </a:lnTo>
                  <a:cubicBezTo>
                    <a:pt x="446995" y="0"/>
                    <a:pt x="487649" y="40654"/>
                    <a:pt x="487649" y="90803"/>
                  </a:cubicBezTo>
                  <a:lnTo>
                    <a:pt x="487649" y="90803"/>
                  </a:lnTo>
                  <a:cubicBezTo>
                    <a:pt x="487649" y="140951"/>
                    <a:pt x="446995" y="181605"/>
                    <a:pt x="396846" y="181605"/>
                  </a:cubicBezTo>
                  <a:lnTo>
                    <a:pt x="90803" y="181605"/>
                  </a:lnTo>
                  <a:cubicBezTo>
                    <a:pt x="40654" y="181605"/>
                    <a:pt x="0" y="140951"/>
                    <a:pt x="0" y="90803"/>
                  </a:cubicBezTo>
                  <a:lnTo>
                    <a:pt x="0" y="90803"/>
                  </a:lnTo>
                  <a:cubicBezTo>
                    <a:pt x="0" y="40654"/>
                    <a:pt x="40654" y="0"/>
                    <a:pt x="90803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87649" cy="219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3031875" y="3958468"/>
            <a:ext cx="395822" cy="8502"/>
          </a:xfrm>
          <a:prstGeom prst="line">
            <a:avLst/>
          </a:prstGeom>
          <a:ln cap="flat" w="9525">
            <a:solidFill>
              <a:srgbClr val="A1BA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3464052" y="170145"/>
            <a:ext cx="5371662" cy="634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b="true" sz="36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IMPACT AND BENEFITS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21907" y="6418745"/>
            <a:ext cx="2302707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submission-Template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407397" y="6418745"/>
            <a:ext cx="86430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01114" y="426444"/>
            <a:ext cx="933631" cy="471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4"/>
              </a:lnSpc>
            </a:pPr>
            <a:r>
              <a:rPr lang="en-US" b="true" sz="1524" i="true" spc="15">
                <a:solidFill>
                  <a:srgbClr val="4A545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LOOSE </a:t>
            </a:r>
          </a:p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137" i="true" spc="11">
                <a:solidFill>
                  <a:srgbClr val="4A545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      SCREWS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67802" y="3342520"/>
            <a:ext cx="1688971" cy="36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4"/>
              </a:lnSpc>
              <a:spcBef>
                <a:spcPct val="0"/>
              </a:spcBef>
            </a:pPr>
            <a:r>
              <a:rPr lang="en-US" b="true" sz="2088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IMPACTS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994699" y="1231851"/>
            <a:ext cx="117562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b="true" sz="1699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ECONOMIC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729885" y="3156646"/>
            <a:ext cx="1367671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b="true" sz="1699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WORKFORCE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855442" y="4632524"/>
            <a:ext cx="1556963" cy="1630327"/>
          </a:xfrm>
          <a:custGeom>
            <a:avLst/>
            <a:gdLst/>
            <a:ahLst/>
            <a:cxnLst/>
            <a:rect r="r" b="b" t="t" l="l"/>
            <a:pathLst>
              <a:path h="1630327" w="1556963">
                <a:moveTo>
                  <a:pt x="0" y="0"/>
                </a:moveTo>
                <a:lnTo>
                  <a:pt x="1556962" y="0"/>
                </a:lnTo>
                <a:lnTo>
                  <a:pt x="1556962" y="1630327"/>
                </a:lnTo>
                <a:lnTo>
                  <a:pt x="0" y="1630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912702" y="4968781"/>
            <a:ext cx="1442442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b="true" sz="1699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SOCIAL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79180" y="3215203"/>
            <a:ext cx="1511337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b="true" sz="1599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OPERATIONAL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057020" y="3518278"/>
            <a:ext cx="1319531" cy="47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4"/>
              </a:lnSpc>
            </a:pPr>
            <a:r>
              <a:rPr lang="en-US" sz="131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0 COLLISIONS</a:t>
            </a:r>
          </a:p>
          <a:p>
            <a:pPr algn="ctr">
              <a:lnSpc>
                <a:spcPts val="1834"/>
              </a:lnSpc>
              <a:spcBef>
                <a:spcPct val="0"/>
              </a:spcBef>
            </a:pPr>
            <a:r>
              <a:rPr lang="en-US" sz="131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93 Completion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787302" y="3408741"/>
            <a:ext cx="1252838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New roles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+ skillings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869308" y="5269516"/>
            <a:ext cx="1485958" cy="50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Safer shared</a:t>
            </a:r>
          </a:p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floors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36" y="2073580"/>
            <a:ext cx="2856327" cy="48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5"/>
              </a:lnSpc>
            </a:pPr>
            <a:r>
              <a:rPr lang="en-US" b="true" sz="138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Reduced </a:t>
            </a:r>
          </a:p>
          <a:p>
            <a:pPr algn="ctr">
              <a:lnSpc>
                <a:spcPts val="1945"/>
              </a:lnSpc>
              <a:spcBef>
                <a:spcPct val="0"/>
              </a:spcBef>
            </a:pPr>
            <a:r>
              <a:rPr lang="en-US" b="true" sz="138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operational downtime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8971" y="2833119"/>
            <a:ext cx="2856327" cy="481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5"/>
              </a:lnSpc>
              <a:spcBef>
                <a:spcPct val="0"/>
              </a:spcBef>
            </a:pPr>
            <a:r>
              <a:rPr lang="en-US" b="true" sz="1297" i="true" strike="noStrike" u="non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Improved Warehouse </a:t>
            </a:r>
          </a:p>
          <a:p>
            <a:pPr algn="ctr" marL="0" indent="0" lvl="0">
              <a:lnSpc>
                <a:spcPts val="1945"/>
              </a:lnSpc>
              <a:spcBef>
                <a:spcPct val="0"/>
              </a:spcBef>
            </a:pPr>
            <a:r>
              <a:rPr lang="en-US" b="true" sz="1389" i="true" strike="noStrike" u="non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ThroughOut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036" y="4647177"/>
            <a:ext cx="2856327" cy="48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45"/>
              </a:lnSpc>
              <a:spcBef>
                <a:spcPct val="0"/>
              </a:spcBef>
            </a:pPr>
            <a:r>
              <a:rPr lang="en-US" b="true" sz="1389" i="true" strike="noStrike" u="non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Lower Maintenance </a:t>
            </a:r>
          </a:p>
          <a:p>
            <a:pPr algn="ctr" marL="0" indent="0" lvl="0">
              <a:lnSpc>
                <a:spcPts val="1945"/>
              </a:lnSpc>
              <a:spcBef>
                <a:spcPct val="0"/>
              </a:spcBef>
            </a:pPr>
            <a:r>
              <a:rPr lang="en-US" b="true" sz="1389" i="true" strike="noStrike" u="non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Costs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036" y="5470060"/>
            <a:ext cx="2856327" cy="481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5"/>
              </a:lnSpc>
              <a:spcBef>
                <a:spcPct val="0"/>
              </a:spcBef>
            </a:pPr>
            <a:r>
              <a:rPr lang="en-US" b="true" sz="1297" i="true" strike="noStrike" u="non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Defense-Grade Edge </a:t>
            </a:r>
          </a:p>
          <a:p>
            <a:pPr algn="ctr" marL="0" indent="0" lvl="0">
              <a:lnSpc>
                <a:spcPts val="1945"/>
              </a:lnSpc>
              <a:spcBef>
                <a:spcPct val="0"/>
              </a:spcBef>
            </a:pPr>
            <a:r>
              <a:rPr lang="en-US" b="true" sz="1389" i="true" strike="noStrike" u="non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Intelligence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-4585" y="3757663"/>
            <a:ext cx="2829853" cy="48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45"/>
              </a:lnSpc>
              <a:spcBef>
                <a:spcPct val="0"/>
              </a:spcBef>
            </a:pPr>
            <a:r>
              <a:rPr lang="en-US" b="true" sz="1389" i="true" strike="noStrike" u="non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Enhanced Safety &amp; </a:t>
            </a:r>
          </a:p>
          <a:p>
            <a:pPr algn="ctr" marL="0" indent="0" lvl="0">
              <a:lnSpc>
                <a:spcPts val="1945"/>
              </a:lnSpc>
              <a:spcBef>
                <a:spcPct val="0"/>
              </a:spcBef>
            </a:pPr>
            <a:r>
              <a:rPr lang="en-US" b="true" sz="1389" i="true" strike="noStrike" u="non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Collision Prevention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091238" y="3281362"/>
            <a:ext cx="95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</a:p>
        </p:txBody>
      </p:sp>
      <p:sp>
        <p:nvSpPr>
          <p:cNvPr name="TextBox 47" id="47"/>
          <p:cNvSpPr txBox="true"/>
          <p:nvPr/>
        </p:nvSpPr>
        <p:spPr>
          <a:xfrm rot="0">
            <a:off x="3499301" y="3798037"/>
            <a:ext cx="1129846" cy="309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0"/>
              </a:lnSpc>
            </a:pPr>
            <a:r>
              <a:rPr lang="en-US" b="true" sz="184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906927" y="1556707"/>
            <a:ext cx="1394460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Low-cost hardware</a:t>
            </a:r>
          </a:p>
          <a:p>
            <a:pPr algn="ctr">
              <a:lnSpc>
                <a:spcPts val="1820"/>
              </a:lnSpc>
              <a:spcBef>
                <a:spcPct val="0"/>
              </a:spcBef>
            </a:pPr>
            <a:r>
              <a:rPr lang="en-US" sz="1300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Fast ROI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376416"/>
            <a:ext cx="12187171" cy="476860"/>
            <a:chOff x="0" y="0"/>
            <a:chExt cx="16249561" cy="6358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49523" cy="635762"/>
            </a:xfrm>
            <a:custGeom>
              <a:avLst/>
              <a:gdLst/>
              <a:ahLst/>
              <a:cxnLst/>
              <a:rect r="r" b="b" t="t" l="l"/>
              <a:pathLst>
                <a:path h="635762" w="16249523">
                  <a:moveTo>
                    <a:pt x="0" y="0"/>
                  </a:moveTo>
                  <a:lnTo>
                    <a:pt x="16249523" y="0"/>
                  </a:lnTo>
                  <a:lnTo>
                    <a:pt x="16249523" y="635762"/>
                  </a:lnTo>
                  <a:lnTo>
                    <a:pt x="0" y="63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6355080"/>
            <a:ext cx="12192000" cy="502920"/>
          </a:xfrm>
          <a:custGeom>
            <a:avLst/>
            <a:gdLst/>
            <a:ahLst/>
            <a:cxnLst/>
            <a:rect r="r" b="b" t="t" l="l"/>
            <a:pathLst>
              <a:path h="502920" w="12192000">
                <a:moveTo>
                  <a:pt x="0" y="0"/>
                </a:moveTo>
                <a:lnTo>
                  <a:pt x="12192000" y="0"/>
                </a:lnTo>
                <a:lnTo>
                  <a:pt x="12192000" y="502920"/>
                </a:lnTo>
                <a:lnTo>
                  <a:pt x="0" y="5029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53489" y="177289"/>
            <a:ext cx="1404109" cy="959101"/>
          </a:xfrm>
          <a:custGeom>
            <a:avLst/>
            <a:gdLst/>
            <a:ahLst/>
            <a:cxnLst/>
            <a:rect r="r" b="b" t="t" l="l"/>
            <a:pathLst>
              <a:path h="959101" w="1404109">
                <a:moveTo>
                  <a:pt x="0" y="0"/>
                </a:moveTo>
                <a:lnTo>
                  <a:pt x="1404109" y="0"/>
                </a:lnTo>
                <a:lnTo>
                  <a:pt x="1404109" y="959101"/>
                </a:lnTo>
                <a:lnTo>
                  <a:pt x="0" y="9591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41992" y="57912"/>
            <a:ext cx="2209800" cy="1121664"/>
            <a:chOff x="0" y="0"/>
            <a:chExt cx="2946400" cy="14955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46400" cy="1495552"/>
            </a:xfrm>
            <a:custGeom>
              <a:avLst/>
              <a:gdLst/>
              <a:ahLst/>
              <a:cxnLst/>
              <a:rect r="r" b="b" t="t" l="l"/>
              <a:pathLst>
                <a:path h="1495552" w="2946400">
                  <a:moveTo>
                    <a:pt x="0" y="0"/>
                  </a:moveTo>
                  <a:lnTo>
                    <a:pt x="2946400" y="0"/>
                  </a:lnTo>
                  <a:lnTo>
                    <a:pt x="2946400" y="1495552"/>
                  </a:lnTo>
                  <a:lnTo>
                    <a:pt x="0" y="149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3156387">
            <a:off x="1064261" y="446535"/>
            <a:ext cx="548517" cy="383962"/>
          </a:xfrm>
          <a:custGeom>
            <a:avLst/>
            <a:gdLst/>
            <a:ahLst/>
            <a:cxnLst/>
            <a:rect r="r" b="b" t="t" l="l"/>
            <a:pathLst>
              <a:path h="383962" w="548517">
                <a:moveTo>
                  <a:pt x="0" y="0"/>
                </a:moveTo>
                <a:lnTo>
                  <a:pt x="548516" y="0"/>
                </a:lnTo>
                <a:lnTo>
                  <a:pt x="548516" y="383961"/>
                </a:lnTo>
                <a:lnTo>
                  <a:pt x="0" y="3839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37787" y="170145"/>
            <a:ext cx="6661696" cy="6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b="true" sz="3602" i="true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RESEARCH AND REFERENCES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21907" y="6418745"/>
            <a:ext cx="2302707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@SIH Idea submission-Template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07397" y="6418745"/>
            <a:ext cx="86430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i="true">
                <a:solidFill>
                  <a:srgbClr val="FFFFFF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1114" y="426444"/>
            <a:ext cx="933631" cy="471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4"/>
              </a:lnSpc>
            </a:pPr>
            <a:r>
              <a:rPr lang="en-US" b="true" sz="1524" i="true" spc="15">
                <a:solidFill>
                  <a:srgbClr val="4A545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LOOSE </a:t>
            </a:r>
          </a:p>
          <a:p>
            <a:pPr algn="ctr">
              <a:lnSpc>
                <a:spcPts val="1591"/>
              </a:lnSpc>
              <a:spcBef>
                <a:spcPct val="0"/>
              </a:spcBef>
            </a:pPr>
            <a:r>
              <a:rPr lang="en-US" b="true" sz="1137" i="true" spc="11">
                <a:solidFill>
                  <a:srgbClr val="4A5458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      SCREWS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53489" y="1338085"/>
            <a:ext cx="5715146" cy="759410"/>
          </a:xfrm>
          <a:custGeom>
            <a:avLst/>
            <a:gdLst/>
            <a:ahLst/>
            <a:cxnLst/>
            <a:rect r="r" b="b" t="t" l="l"/>
            <a:pathLst>
              <a:path h="759410" w="5715146">
                <a:moveTo>
                  <a:pt x="0" y="0"/>
                </a:moveTo>
                <a:lnTo>
                  <a:pt x="5715146" y="0"/>
                </a:lnTo>
                <a:lnTo>
                  <a:pt x="5715146" y="759410"/>
                </a:lnTo>
                <a:lnTo>
                  <a:pt x="0" y="7594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064" r="-29027" b="-8614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273260" y="1961792"/>
            <a:ext cx="5665251" cy="759466"/>
          </a:xfrm>
          <a:custGeom>
            <a:avLst/>
            <a:gdLst/>
            <a:ahLst/>
            <a:cxnLst/>
            <a:rect r="r" b="b" t="t" l="l"/>
            <a:pathLst>
              <a:path h="759466" w="5665251">
                <a:moveTo>
                  <a:pt x="0" y="0"/>
                </a:moveTo>
                <a:lnTo>
                  <a:pt x="5665251" y="0"/>
                </a:lnTo>
                <a:lnTo>
                  <a:pt x="5665251" y="759467"/>
                </a:lnTo>
                <a:lnTo>
                  <a:pt x="0" y="7594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155" t="-8064" r="-27017" b="-8614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53489" y="2554695"/>
            <a:ext cx="5715146" cy="759410"/>
          </a:xfrm>
          <a:custGeom>
            <a:avLst/>
            <a:gdLst/>
            <a:ahLst/>
            <a:cxnLst/>
            <a:rect r="r" b="b" t="t" l="l"/>
            <a:pathLst>
              <a:path h="759410" w="5715146">
                <a:moveTo>
                  <a:pt x="0" y="0"/>
                </a:moveTo>
                <a:lnTo>
                  <a:pt x="5715146" y="0"/>
                </a:lnTo>
                <a:lnTo>
                  <a:pt x="5715146" y="759410"/>
                </a:lnTo>
                <a:lnTo>
                  <a:pt x="0" y="7594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064" r="-29027" b="-8614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253489" y="3771305"/>
            <a:ext cx="5715146" cy="759410"/>
          </a:xfrm>
          <a:custGeom>
            <a:avLst/>
            <a:gdLst/>
            <a:ahLst/>
            <a:cxnLst/>
            <a:rect r="r" b="b" t="t" l="l"/>
            <a:pathLst>
              <a:path h="759410" w="5715146">
                <a:moveTo>
                  <a:pt x="0" y="0"/>
                </a:moveTo>
                <a:lnTo>
                  <a:pt x="5715146" y="0"/>
                </a:lnTo>
                <a:lnTo>
                  <a:pt x="5715146" y="759410"/>
                </a:lnTo>
                <a:lnTo>
                  <a:pt x="0" y="7594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064" r="-29027" b="-8614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53489" y="4997440"/>
            <a:ext cx="5715146" cy="759410"/>
          </a:xfrm>
          <a:custGeom>
            <a:avLst/>
            <a:gdLst/>
            <a:ahLst/>
            <a:cxnLst/>
            <a:rect r="r" b="b" t="t" l="l"/>
            <a:pathLst>
              <a:path h="759410" w="5715146">
                <a:moveTo>
                  <a:pt x="0" y="0"/>
                </a:moveTo>
                <a:lnTo>
                  <a:pt x="5715146" y="0"/>
                </a:lnTo>
                <a:lnTo>
                  <a:pt x="5715146" y="759410"/>
                </a:lnTo>
                <a:lnTo>
                  <a:pt x="0" y="7594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064" r="-29027" b="-8614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273260" y="5569384"/>
            <a:ext cx="5715146" cy="759410"/>
          </a:xfrm>
          <a:custGeom>
            <a:avLst/>
            <a:gdLst/>
            <a:ahLst/>
            <a:cxnLst/>
            <a:rect r="r" b="b" t="t" l="l"/>
            <a:pathLst>
              <a:path h="759410" w="5715146">
                <a:moveTo>
                  <a:pt x="0" y="0"/>
                </a:moveTo>
                <a:lnTo>
                  <a:pt x="5715146" y="0"/>
                </a:lnTo>
                <a:lnTo>
                  <a:pt x="5715146" y="759410"/>
                </a:lnTo>
                <a:lnTo>
                  <a:pt x="0" y="7594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064" r="-29027" b="-8614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73260" y="4381349"/>
            <a:ext cx="5715146" cy="759410"/>
          </a:xfrm>
          <a:custGeom>
            <a:avLst/>
            <a:gdLst/>
            <a:ahLst/>
            <a:cxnLst/>
            <a:rect r="r" b="b" t="t" l="l"/>
            <a:pathLst>
              <a:path h="759410" w="5715146">
                <a:moveTo>
                  <a:pt x="0" y="0"/>
                </a:moveTo>
                <a:lnTo>
                  <a:pt x="5715146" y="0"/>
                </a:lnTo>
                <a:lnTo>
                  <a:pt x="5715146" y="759410"/>
                </a:lnTo>
                <a:lnTo>
                  <a:pt x="0" y="7594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064" r="-29027" b="-8614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273260" y="3207034"/>
            <a:ext cx="5715146" cy="759410"/>
          </a:xfrm>
          <a:custGeom>
            <a:avLst/>
            <a:gdLst/>
            <a:ahLst/>
            <a:cxnLst/>
            <a:rect r="r" b="b" t="t" l="l"/>
            <a:pathLst>
              <a:path h="759410" w="5715146">
                <a:moveTo>
                  <a:pt x="0" y="0"/>
                </a:moveTo>
                <a:lnTo>
                  <a:pt x="5715146" y="0"/>
                </a:lnTo>
                <a:lnTo>
                  <a:pt x="5715146" y="759410"/>
                </a:lnTo>
                <a:lnTo>
                  <a:pt x="0" y="7594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064" r="-29027" b="-8614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01114" y="1437833"/>
            <a:ext cx="5667521" cy="57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5"/>
              </a:lnSpc>
            </a:pPr>
            <a:r>
              <a:rPr lang="en-US" b="true" sz="1796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Global path planning</a:t>
            </a:r>
          </a:p>
          <a:p>
            <a:pPr algn="ctr">
              <a:lnSpc>
                <a:spcPts val="1955"/>
              </a:lnSpc>
              <a:spcBef>
                <a:spcPct val="0"/>
              </a:spcBef>
            </a:pPr>
            <a:r>
              <a:rPr lang="en-US" sz="1396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https://www.sciencedirect.com/science/article/pii/S0004370214001386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73260" y="3291464"/>
            <a:ext cx="5715146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 L</a:t>
            </a:r>
            <a:r>
              <a:rPr lang="en-US" b="true" sz="179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ocal collision avoidance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https://gamma.cs.unc.edu/ORCA/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1114" y="2612455"/>
            <a:ext cx="5715146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Peer-t</a:t>
            </a:r>
            <a:r>
              <a:rPr lang="en-US" b="true" sz="179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o-peer robot communication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https://docs.ros.org/en/rolling/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1114" y="3834501"/>
            <a:ext cx="5667521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Edge-AI hardware feasibility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https://developer.nvidia.com/embedded/jetson-nano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3489" y="5045065"/>
            <a:ext cx="5715146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Deadlock detection in distributed systems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https://doi.org/10.1145/357360.357365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73260" y="2021295"/>
            <a:ext cx="5665251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Why this problem is real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https://github.com/ros-navigation/navigation2/issues/4685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16958" y="4464040"/>
            <a:ext cx="5671448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Distributed task allocation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https://doi.org/10.1109/TC.1980.1675516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73260" y="5627144"/>
            <a:ext cx="5715146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 i="true">
                <a:solidFill>
                  <a:srgbClr val="000000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Edge-AI congestion/traffic prediction</a:t>
            </a:r>
          </a:p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en-US" sz="1499" i="true">
                <a:solidFill>
                  <a:srgbClr val="000000"/>
                </a:solidFill>
                <a:latin typeface="Arial Italics"/>
                <a:ea typeface="Arial Italics"/>
                <a:cs typeface="Arial Italics"/>
                <a:sym typeface="Arial Italics"/>
              </a:rPr>
              <a:t>https://arxiv.org/abs/2101.11174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DAHUpc_kaPs</dc:identifier>
  <dcterms:modified xsi:type="dcterms:W3CDTF">2011-08-01T06:04:30Z</dcterms:modified>
  <cp:revision>1</cp:revision>
  <dc:title>LooseScrews_SIH2026_Presentation</dc:title>
</cp:coreProperties>
</file>