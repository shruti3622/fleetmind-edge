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2192000" cy="6858000"/>
  <p:notesSz cx="6858000" cy="9144000"/>
  <p:embeddedFontLst>
    <p:embeddedFont>
      <p:font typeface="Times New Roman Bold Italics" charset="1" panose="02020703060505090304"/>
      <p:regular r:id="rId12"/>
    </p:embeddedFont>
    <p:embeddedFont>
      <p:font typeface="Garamond" charset="1" panose="02020404030301010803"/>
      <p:regular r:id="rId13"/>
    </p:embeddedFont>
    <p:embeddedFont>
      <p:font typeface="Arial" charset="1" panose="020B0604020202020204"/>
      <p:regular r:id="rId14"/>
    </p:embeddedFont>
    <p:embeddedFont>
      <p:font typeface="Arial Bold Italics" charset="1" panose="020B0704020202090204"/>
      <p:regular r:id="rId15"/>
    </p:embeddedFont>
    <p:embeddedFont>
      <p:font typeface="Times New Roman Bold" charset="1" panose="02020803070505020304"/>
      <p:regular r:id="rId16"/>
    </p:embeddedFont>
    <p:embeddedFont>
      <p:font typeface="Times New Roman" charset="1" panose="02020603050405020304"/>
      <p:regular r:id="rId17"/>
    </p:embeddedFont>
    <p:embeddedFont>
      <p:font typeface="Arial Bold" charset="1" panose="020B0704020202020204"/>
      <p:regular r:id="rId18"/>
    </p:embeddedFont>
    <p:embeddedFont>
      <p:font typeface="Arial Italics" charset="1" panose="020B0604020202090204"/>
      <p:regular r:id="rId19"/>
    </p:embeddedFont>
    <p:embeddedFont>
      <p:font typeface="Aperture" charset="1" panose="0000000000000000000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png" Type="http://schemas.openxmlformats.org/officeDocument/2006/relationships/image"/><Relationship Id="rId11" Target="../media/image13.png" Type="http://schemas.openxmlformats.org/officeDocument/2006/relationships/image"/><Relationship Id="rId12" Target="../media/image14.svg" Type="http://schemas.openxmlformats.org/officeDocument/2006/relationships/image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Relationship Id="rId7" Target="../media/image4.png" Type="http://schemas.openxmlformats.org/officeDocument/2006/relationships/image"/><Relationship Id="rId8" Target="../media/image10.png" Type="http://schemas.openxmlformats.org/officeDocument/2006/relationships/image"/><Relationship Id="rId9" Target="../media/image1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png" Type="http://schemas.openxmlformats.org/officeDocument/2006/relationships/image"/><Relationship Id="rId11" Target="../media/image14.svg" Type="http://schemas.openxmlformats.org/officeDocument/2006/relationships/image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Relationship Id="rId7" Target="../media/image4.png" Type="http://schemas.openxmlformats.org/officeDocument/2006/relationships/image"/><Relationship Id="rId8" Target="../media/image15.jpeg" Type="http://schemas.openxmlformats.org/officeDocument/2006/relationships/image"/><Relationship Id="rId9" Target="../media/image16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png" Type="http://schemas.openxmlformats.org/officeDocument/2006/relationships/image"/><Relationship Id="rId11" Target="../media/image14.svg" Type="http://schemas.openxmlformats.org/officeDocument/2006/relationships/image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Relationship Id="rId7" Target="../media/image4.png" Type="http://schemas.openxmlformats.org/officeDocument/2006/relationships/image"/><Relationship Id="rId8" Target="../media/image17.png" Type="http://schemas.openxmlformats.org/officeDocument/2006/relationships/image"/><Relationship Id="rId9" Target="../media/image18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9.png" Type="http://schemas.openxmlformats.org/officeDocument/2006/relationships/image"/><Relationship Id="rId11" Target="../media/image20.svg" Type="http://schemas.openxmlformats.org/officeDocument/2006/relationships/image"/><Relationship Id="rId12" Target="../media/image21.png" Type="http://schemas.openxmlformats.org/officeDocument/2006/relationships/image"/><Relationship Id="rId13" Target="../media/image22.svg" Type="http://schemas.openxmlformats.org/officeDocument/2006/relationships/image"/><Relationship Id="rId14" Target="../media/image23.png" Type="http://schemas.openxmlformats.org/officeDocument/2006/relationships/image"/><Relationship Id="rId15" Target="../media/image24.png" Type="http://schemas.openxmlformats.org/officeDocument/2006/relationships/image"/><Relationship Id="rId16" Target="../media/image25.png" Type="http://schemas.openxmlformats.org/officeDocument/2006/relationships/image"/><Relationship Id="rId17" Target="../media/image26.png" Type="http://schemas.openxmlformats.org/officeDocument/2006/relationships/image"/><Relationship Id="rId18" Target="../media/image27.png" Type="http://schemas.openxmlformats.org/officeDocument/2006/relationships/image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Relationship Id="rId7" Target="../media/image4.png" Type="http://schemas.openxmlformats.org/officeDocument/2006/relationships/image"/><Relationship Id="rId8" Target="../media/image13.png" Type="http://schemas.openxmlformats.org/officeDocument/2006/relationships/image"/><Relationship Id="rId9" Target="../media/image14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8.png" Type="http://schemas.openxmlformats.org/officeDocument/2006/relationships/image"/><Relationship Id="rId11" Target="../media/image29.svg" Type="http://schemas.openxmlformats.org/officeDocument/2006/relationships/image"/><Relationship Id="rId12" Target="../media/image30.png" Type="http://schemas.openxmlformats.org/officeDocument/2006/relationships/image"/><Relationship Id="rId13" Target="../media/image31.svg" Type="http://schemas.openxmlformats.org/officeDocument/2006/relationships/image"/><Relationship Id="rId14" Target="../media/image32.png" Type="http://schemas.openxmlformats.org/officeDocument/2006/relationships/image"/><Relationship Id="rId15" Target="../media/image33.svg" Type="http://schemas.openxmlformats.org/officeDocument/2006/relationships/image"/><Relationship Id="rId16" Target="../media/image34.png" Type="http://schemas.openxmlformats.org/officeDocument/2006/relationships/image"/><Relationship Id="rId17" Target="../media/image35.png" Type="http://schemas.openxmlformats.org/officeDocument/2006/relationships/image"/><Relationship Id="rId18" Target="../media/image36.svg" Type="http://schemas.openxmlformats.org/officeDocument/2006/relationships/image"/><Relationship Id="rId19" Target="../media/image37.png" Type="http://schemas.openxmlformats.org/officeDocument/2006/relationships/image"/><Relationship Id="rId2" Target="../media/image5.png" Type="http://schemas.openxmlformats.org/officeDocument/2006/relationships/image"/><Relationship Id="rId20" Target="../media/image38.png" Type="http://schemas.openxmlformats.org/officeDocument/2006/relationships/image"/><Relationship Id="rId21" Target="../media/image39.svg" Type="http://schemas.openxmlformats.org/officeDocument/2006/relationships/image"/><Relationship Id="rId22" Target="../media/image40.png" Type="http://schemas.openxmlformats.org/officeDocument/2006/relationships/image"/><Relationship Id="rId23" Target="../media/image41.svg" Type="http://schemas.openxmlformats.org/officeDocument/2006/relationships/image"/><Relationship Id="rId24" Target="../media/image42.gif" Type="http://schemas.openxmlformats.org/officeDocument/2006/relationships/image"/><Relationship Id="rId25" Target="../media/image43.png" Type="http://schemas.openxmlformats.org/officeDocument/2006/relationships/image"/><Relationship Id="rId26" Target="../media/image44.svg" Type="http://schemas.openxmlformats.org/officeDocument/2006/relationships/image"/><Relationship Id="rId27" Target="../media/image45.png" Type="http://schemas.openxmlformats.org/officeDocument/2006/relationships/image"/><Relationship Id="rId28" Target="../media/image46.png" Type="http://schemas.openxmlformats.org/officeDocument/2006/relationships/image"/><Relationship Id="rId29" Target="../media/image47.png" Type="http://schemas.openxmlformats.org/officeDocument/2006/relationships/image"/><Relationship Id="rId3" Target="../media/image6.png" Type="http://schemas.openxmlformats.org/officeDocument/2006/relationships/image"/><Relationship Id="rId30" Target="../media/image48.png" Type="http://schemas.openxmlformats.org/officeDocument/2006/relationships/image"/><Relationship Id="rId31" Target="../media/image49.png" Type="http://schemas.openxmlformats.org/officeDocument/2006/relationships/image"/><Relationship Id="rId32" Target="../media/image50.png" Type="http://schemas.openxmlformats.org/officeDocument/2006/relationships/image"/><Relationship Id="rId33" Target="../media/image51.png" Type="http://schemas.openxmlformats.org/officeDocument/2006/relationships/image"/><Relationship Id="rId34" Target="../media/image52.png" Type="http://schemas.openxmlformats.org/officeDocument/2006/relationships/image"/><Relationship Id="rId35" Target="../media/image53.png" Type="http://schemas.openxmlformats.org/officeDocument/2006/relationships/image"/><Relationship Id="rId36" Target="../media/image54.png" Type="http://schemas.openxmlformats.org/officeDocument/2006/relationships/image"/><Relationship Id="rId4" Target="../media/image7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Relationship Id="rId7" Target="../media/image4.png" Type="http://schemas.openxmlformats.org/officeDocument/2006/relationships/image"/><Relationship Id="rId8" Target="../media/image13.png" Type="http://schemas.openxmlformats.org/officeDocument/2006/relationships/image"/><Relationship Id="rId9" Target="../media/image1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953890" y="52489"/>
            <a:ext cx="9270997" cy="6984997"/>
          </a:xfrm>
          <a:custGeom>
            <a:avLst/>
            <a:gdLst/>
            <a:ahLst/>
            <a:cxnLst/>
            <a:rect r="r" b="b" t="t" l="l"/>
            <a:pathLst>
              <a:path h="6984997" w="9270997">
                <a:moveTo>
                  <a:pt x="0" y="0"/>
                </a:moveTo>
                <a:lnTo>
                  <a:pt x="9270997" y="0"/>
                </a:lnTo>
                <a:lnTo>
                  <a:pt x="9270997" y="6984996"/>
                </a:lnTo>
                <a:lnTo>
                  <a:pt x="0" y="69849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435339" y="2358769"/>
            <a:ext cx="3203448" cy="3425952"/>
            <a:chOff x="0" y="0"/>
            <a:chExt cx="4271264" cy="456793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271264" cy="4567936"/>
            </a:xfrm>
            <a:custGeom>
              <a:avLst/>
              <a:gdLst/>
              <a:ahLst/>
              <a:cxnLst/>
              <a:rect r="r" b="b" t="t" l="l"/>
              <a:pathLst>
                <a:path h="4567936" w="4271264">
                  <a:moveTo>
                    <a:pt x="0" y="0"/>
                  </a:moveTo>
                  <a:lnTo>
                    <a:pt x="4271264" y="0"/>
                  </a:lnTo>
                  <a:lnTo>
                    <a:pt x="4271264" y="4567936"/>
                  </a:lnTo>
                  <a:lnTo>
                    <a:pt x="0" y="45679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841992" y="6096"/>
            <a:ext cx="2209800" cy="1121664"/>
            <a:chOff x="0" y="0"/>
            <a:chExt cx="2946400" cy="149555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46400" cy="1495552"/>
            </a:xfrm>
            <a:custGeom>
              <a:avLst/>
              <a:gdLst/>
              <a:ahLst/>
              <a:cxnLst/>
              <a:rect r="r" b="b" t="t" l="l"/>
              <a:pathLst>
                <a:path h="1495552" w="2946400">
                  <a:moveTo>
                    <a:pt x="0" y="0"/>
                  </a:moveTo>
                  <a:lnTo>
                    <a:pt x="2946400" y="0"/>
                  </a:lnTo>
                  <a:lnTo>
                    <a:pt x="2946400" y="1495552"/>
                  </a:lnTo>
                  <a:lnTo>
                    <a:pt x="0" y="149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4292222" y="1209961"/>
            <a:ext cx="2492111" cy="563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68"/>
              </a:lnSpc>
            </a:pPr>
            <a:r>
              <a:rPr lang="en-US" b="true" sz="3192" i="true">
                <a:solidFill>
                  <a:srgbClr val="000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TITLE PAGE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84376" y="134274"/>
            <a:ext cx="8223056" cy="687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14"/>
              </a:lnSpc>
            </a:pPr>
            <a:r>
              <a:rPr lang="en-US" sz="4010">
                <a:solidFill>
                  <a:srgbClr val="1F497D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2025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22245" y="2989930"/>
            <a:ext cx="7739954" cy="33314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59"/>
              </a:lnSpc>
            </a:pPr>
            <a:r>
              <a:rPr lang="en-US" sz="2318" spc="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n-US" b="true" sz="2318" i="true" spc="2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</a:t>
            </a:r>
            <a:r>
              <a:rPr lang="en-US" b="true" sz="2318" i="true" spc="2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ProblemStatementID– </a:t>
            </a:r>
            <a:r>
              <a:rPr lang="en-US" b="true" sz="2318" i="true" spc="2">
                <a:solidFill>
                  <a:srgbClr val="329552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26123</a:t>
            </a:r>
          </a:p>
          <a:p>
            <a:pPr algn="l">
              <a:lnSpc>
                <a:spcPts val="1159"/>
              </a:lnSpc>
            </a:pPr>
          </a:p>
          <a:p>
            <a:pPr algn="l">
              <a:lnSpc>
                <a:spcPts val="1159"/>
              </a:lnSpc>
            </a:pPr>
          </a:p>
          <a:p>
            <a:pPr algn="l">
              <a:lnSpc>
                <a:spcPts val="3523"/>
              </a:lnSpc>
            </a:pPr>
            <a:r>
              <a:rPr lang="en-US" sz="231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n-US" b="true" sz="2318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</a:t>
            </a:r>
            <a:r>
              <a:rPr lang="en-US" b="true" sz="2318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ProblemStatementTitle- </a:t>
            </a:r>
            <a:r>
              <a:rPr lang="en-US" b="true" sz="2318" i="true">
                <a:solidFill>
                  <a:srgbClr val="2B834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Edge-AI Based Distributed</a:t>
            </a:r>
          </a:p>
          <a:p>
            <a:pPr algn="l">
              <a:lnSpc>
                <a:spcPts val="3523"/>
              </a:lnSpc>
            </a:pPr>
            <a:r>
              <a:rPr lang="en-US" b="true" sz="2318" i="true">
                <a:solidFill>
                  <a:srgbClr val="2B834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Fleet Coordination for Autonomous Mobile Robots (AMRs) in Smart Warehouses</a:t>
            </a:r>
          </a:p>
          <a:p>
            <a:pPr algn="l">
              <a:lnSpc>
                <a:spcPts val="2480"/>
              </a:lnSpc>
            </a:pPr>
          </a:p>
          <a:p>
            <a:pPr algn="l">
              <a:lnSpc>
                <a:spcPts val="2480"/>
              </a:lnSpc>
            </a:pPr>
            <a:r>
              <a:rPr lang="en-US" sz="231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n-US" b="true" sz="2318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</a:t>
            </a:r>
            <a:r>
              <a:rPr lang="en-US" b="true" sz="2318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Theme- </a:t>
            </a:r>
            <a:r>
              <a:rPr lang="en-US" b="true" sz="2318" i="true">
                <a:solidFill>
                  <a:srgbClr val="2B834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Smart Automation</a:t>
            </a:r>
          </a:p>
          <a:p>
            <a:pPr algn="l">
              <a:lnSpc>
                <a:spcPts val="5291"/>
              </a:lnSpc>
            </a:pPr>
            <a:r>
              <a:rPr lang="en-US" sz="2320" spc="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n-US" b="true" sz="2320" i="true" spc="2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</a:t>
            </a:r>
            <a:r>
              <a:rPr lang="en-US" b="true" sz="2320" i="true" spc="2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PS</a:t>
            </a:r>
            <a:r>
              <a:rPr lang="en-US" b="true" sz="2320" i="true" spc="2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</a:t>
            </a:r>
            <a:r>
              <a:rPr lang="en-US" b="true" sz="2320" i="true" spc="2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Category-</a:t>
            </a:r>
            <a:r>
              <a:rPr lang="en-US" b="true" sz="2320" i="true" spc="2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</a:t>
            </a:r>
            <a:r>
              <a:rPr lang="en-US" b="true" sz="2320" i="true" spc="2">
                <a:solidFill>
                  <a:srgbClr val="2B834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Software</a:t>
            </a:r>
            <a:r>
              <a:rPr lang="en-US" b="true" sz="2320" i="true" spc="2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 </a:t>
            </a:r>
          </a:p>
          <a:p>
            <a:pPr algn="l">
              <a:lnSpc>
                <a:spcPts val="2343"/>
              </a:lnSpc>
            </a:pPr>
            <a:r>
              <a:rPr lang="en-US" sz="2320" spc="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en-US" b="true" sz="2320" i="true" spc="2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</a:t>
            </a:r>
            <a:r>
              <a:rPr lang="en-US" b="true" sz="2320" i="true" spc="2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TeamName- </a:t>
            </a:r>
            <a:r>
              <a:rPr lang="en-US" b="true" sz="2320" i="true" spc="2">
                <a:solidFill>
                  <a:srgbClr val="2B834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Loose Screws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6376416"/>
            <a:ext cx="12187171" cy="476860"/>
            <a:chOff x="0" y="0"/>
            <a:chExt cx="16249561" cy="63581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249523" cy="635762"/>
            </a:xfrm>
            <a:custGeom>
              <a:avLst/>
              <a:gdLst/>
              <a:ahLst/>
              <a:cxnLst/>
              <a:rect r="r" b="b" t="t" l="l"/>
              <a:pathLst>
                <a:path h="635762" w="16249523">
                  <a:moveTo>
                    <a:pt x="0" y="0"/>
                  </a:moveTo>
                  <a:lnTo>
                    <a:pt x="16249523" y="0"/>
                  </a:lnTo>
                  <a:lnTo>
                    <a:pt x="16249523" y="635762"/>
                  </a:lnTo>
                  <a:lnTo>
                    <a:pt x="0" y="6357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7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0" y="6355080"/>
            <a:ext cx="12192000" cy="502920"/>
          </a:xfrm>
          <a:custGeom>
            <a:avLst/>
            <a:gdLst/>
            <a:ahLst/>
            <a:cxnLst/>
            <a:rect r="r" b="b" t="t" l="l"/>
            <a:pathLst>
              <a:path h="502920" w="12192000">
                <a:moveTo>
                  <a:pt x="0" y="0"/>
                </a:moveTo>
                <a:lnTo>
                  <a:pt x="12192000" y="0"/>
                </a:lnTo>
                <a:lnTo>
                  <a:pt x="12192000" y="502920"/>
                </a:lnTo>
                <a:lnTo>
                  <a:pt x="0" y="5029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51199" y="252551"/>
            <a:ext cx="1072203" cy="732387"/>
          </a:xfrm>
          <a:custGeom>
            <a:avLst/>
            <a:gdLst/>
            <a:ahLst/>
            <a:cxnLst/>
            <a:rect r="r" b="b" t="t" l="l"/>
            <a:pathLst>
              <a:path h="732387" w="1072203">
                <a:moveTo>
                  <a:pt x="0" y="0"/>
                </a:moveTo>
                <a:lnTo>
                  <a:pt x="1072203" y="0"/>
                </a:lnTo>
                <a:lnTo>
                  <a:pt x="1072203" y="732386"/>
                </a:lnTo>
                <a:lnTo>
                  <a:pt x="0" y="7323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9841992" y="57912"/>
            <a:ext cx="2209800" cy="1121664"/>
            <a:chOff x="0" y="0"/>
            <a:chExt cx="2946400" cy="149555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946400" cy="1495552"/>
            </a:xfrm>
            <a:custGeom>
              <a:avLst/>
              <a:gdLst/>
              <a:ahLst/>
              <a:cxnLst/>
              <a:rect r="r" b="b" t="t" l="l"/>
              <a:pathLst>
                <a:path h="1495552" w="2946400">
                  <a:moveTo>
                    <a:pt x="0" y="0"/>
                  </a:moveTo>
                  <a:lnTo>
                    <a:pt x="2946400" y="0"/>
                  </a:lnTo>
                  <a:lnTo>
                    <a:pt x="2946400" y="1495552"/>
                  </a:lnTo>
                  <a:lnTo>
                    <a:pt x="0" y="149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577791" y="1267453"/>
            <a:ext cx="5518209" cy="2647090"/>
          </a:xfrm>
          <a:custGeom>
            <a:avLst/>
            <a:gdLst/>
            <a:ahLst/>
            <a:cxnLst/>
            <a:rect r="r" b="b" t="t" l="l"/>
            <a:pathLst>
              <a:path h="2647090" w="5518209">
                <a:moveTo>
                  <a:pt x="0" y="0"/>
                </a:moveTo>
                <a:lnTo>
                  <a:pt x="5518209" y="0"/>
                </a:lnTo>
                <a:lnTo>
                  <a:pt x="5518209" y="2647090"/>
                </a:lnTo>
                <a:lnTo>
                  <a:pt x="0" y="264709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423523" y="1267453"/>
            <a:ext cx="5473319" cy="2599972"/>
          </a:xfrm>
          <a:custGeom>
            <a:avLst/>
            <a:gdLst/>
            <a:ahLst/>
            <a:cxnLst/>
            <a:rect r="r" b="b" t="t" l="l"/>
            <a:pathLst>
              <a:path h="2599972" w="5473319">
                <a:moveTo>
                  <a:pt x="0" y="0"/>
                </a:moveTo>
                <a:lnTo>
                  <a:pt x="5473318" y="0"/>
                </a:lnTo>
                <a:lnTo>
                  <a:pt x="5473318" y="2599972"/>
                </a:lnTo>
                <a:lnTo>
                  <a:pt x="0" y="259997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86000"/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577791" y="4431661"/>
            <a:ext cx="11070451" cy="1736677"/>
          </a:xfrm>
          <a:custGeom>
            <a:avLst/>
            <a:gdLst/>
            <a:ahLst/>
            <a:cxnLst/>
            <a:rect r="r" b="b" t="t" l="l"/>
            <a:pathLst>
              <a:path h="1736677" w="11070451">
                <a:moveTo>
                  <a:pt x="0" y="0"/>
                </a:moveTo>
                <a:lnTo>
                  <a:pt x="11070451" y="0"/>
                </a:lnTo>
                <a:lnTo>
                  <a:pt x="11070451" y="1736677"/>
                </a:lnTo>
                <a:lnTo>
                  <a:pt x="0" y="173667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3156387">
            <a:off x="1047812" y="479811"/>
            <a:ext cx="347218" cy="243053"/>
          </a:xfrm>
          <a:custGeom>
            <a:avLst/>
            <a:gdLst/>
            <a:ahLst/>
            <a:cxnLst/>
            <a:rect r="r" b="b" t="t" l="l"/>
            <a:pathLst>
              <a:path h="243053" w="347218">
                <a:moveTo>
                  <a:pt x="0" y="0"/>
                </a:moveTo>
                <a:lnTo>
                  <a:pt x="347218" y="0"/>
                </a:lnTo>
                <a:lnTo>
                  <a:pt x="347218" y="243053"/>
                </a:lnTo>
                <a:lnTo>
                  <a:pt x="0" y="2430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4246832" y="178646"/>
            <a:ext cx="2674020" cy="634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b="true" sz="3600" i="true">
                <a:solidFill>
                  <a:srgbClr val="000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IDEA TITLE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121907" y="6418745"/>
            <a:ext cx="2302707" cy="217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@SIH Idea submission-Template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407397" y="6418745"/>
            <a:ext cx="86430" cy="217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b="true" sz="1200" i="true">
                <a:solidFill>
                  <a:srgbClr val="FFFF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2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64714" y="1493679"/>
            <a:ext cx="1448753" cy="515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60"/>
              </a:lnSpc>
            </a:pPr>
            <a:r>
              <a:rPr lang="en-US" b="true" sz="1472">
                <a:solidFill>
                  <a:srgbClr val="C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PROBLEM:</a:t>
            </a:r>
          </a:p>
          <a:p>
            <a:pPr algn="ctr">
              <a:lnSpc>
                <a:spcPts val="2060"/>
              </a:lnSpc>
              <a:spcBef>
                <a:spcPct val="0"/>
              </a:spcBef>
            </a:pPr>
          </a:p>
        </p:txBody>
      </p:sp>
      <p:sp>
        <p:nvSpPr>
          <p:cNvPr name="TextBox 16" id="16"/>
          <p:cNvSpPr txBox="true"/>
          <p:nvPr/>
        </p:nvSpPr>
        <p:spPr>
          <a:xfrm rot="0">
            <a:off x="887301" y="1825124"/>
            <a:ext cx="4899189" cy="1894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02792" indent="-151396" lvl="1">
              <a:lnSpc>
                <a:spcPts val="1963"/>
              </a:lnSpc>
              <a:buFont typeface="Arial"/>
              <a:buChar char="•"/>
            </a:pPr>
            <a:r>
              <a:rPr lang="en-US" sz="1402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Centralized control: most AMR fleets depend on one server for task allocati</a:t>
            </a:r>
            <a:r>
              <a:rPr lang="en-US" sz="1402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on.</a:t>
            </a:r>
          </a:p>
          <a:p>
            <a:pPr algn="l" marL="302792" indent="-151396" lvl="1">
              <a:lnSpc>
                <a:spcPts val="1963"/>
              </a:lnSpc>
              <a:buFont typeface="Arial"/>
              <a:buChar char="•"/>
            </a:pPr>
            <a:r>
              <a:rPr lang="en-US" sz="1402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Single point of failure: a server outage halts every robot at once.</a:t>
            </a:r>
          </a:p>
          <a:p>
            <a:pPr algn="l" marL="302792" indent="-151396" lvl="1">
              <a:lnSpc>
                <a:spcPts val="1963"/>
              </a:lnSpc>
              <a:buFont typeface="Arial"/>
              <a:buChar char="•"/>
            </a:pPr>
            <a:r>
              <a:rPr lang="en-US" sz="1402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Costly downtime: stalled fleets mean delayed shipments and lost throughput.</a:t>
            </a:r>
          </a:p>
          <a:p>
            <a:pPr algn="l" marL="302792" indent="-151396" lvl="1">
              <a:lnSpc>
                <a:spcPts val="1963"/>
              </a:lnSpc>
              <a:buFont typeface="Arial"/>
              <a:buChar char="•"/>
            </a:pPr>
            <a:r>
              <a:rPr lang="en-US" sz="1402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 graceful degradation: existing systems have no fallback coordination mode.</a:t>
            </a:r>
          </a:p>
          <a:p>
            <a:pPr algn="l">
              <a:lnSpc>
                <a:spcPts val="1263"/>
              </a:lnSpc>
            </a:pPr>
          </a:p>
        </p:txBody>
      </p:sp>
      <p:sp>
        <p:nvSpPr>
          <p:cNvPr name="TextBox 17" id="17"/>
          <p:cNvSpPr txBox="true"/>
          <p:nvPr/>
        </p:nvSpPr>
        <p:spPr>
          <a:xfrm rot="0">
            <a:off x="6423523" y="1452192"/>
            <a:ext cx="2260087" cy="318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8"/>
              </a:lnSpc>
              <a:spcBef>
                <a:spcPct val="0"/>
              </a:spcBef>
            </a:pPr>
            <a:r>
              <a:rPr lang="en-US" b="true" sz="1727">
                <a:solidFill>
                  <a:srgbClr val="FFDE5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Proposed Solution: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578473" y="1825124"/>
            <a:ext cx="5473319" cy="19836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02790" indent="-151395" lvl="1">
              <a:lnSpc>
                <a:spcPts val="1963"/>
              </a:lnSpc>
              <a:buFont typeface="Arial"/>
              <a:buChar char="•"/>
            </a:pPr>
            <a:r>
              <a:rPr lang="en-US" sz="1402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Peer-to-peer edge coordination — robots talk directly, no single choke point.</a:t>
            </a:r>
          </a:p>
          <a:p>
            <a:pPr algn="l" marL="302790" indent="-151395" lvl="1">
              <a:lnSpc>
                <a:spcPts val="1963"/>
              </a:lnSpc>
              <a:buFont typeface="Arial"/>
              <a:buChar char="•"/>
            </a:pPr>
            <a:r>
              <a:rPr lang="en-US" sz="1402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Intelligent failover: fleet keeps operating the instant the central server drops.</a:t>
            </a:r>
          </a:p>
          <a:p>
            <a:pPr algn="l" marL="302790" indent="-151395" lvl="1">
              <a:lnSpc>
                <a:spcPts val="1963"/>
              </a:lnSpc>
              <a:buFont typeface="Arial"/>
              <a:buChar char="•"/>
            </a:pPr>
            <a:r>
              <a:rPr lang="en-US" sz="1402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 congestion prediction with automatic rerouting around bottlenecks.</a:t>
            </a:r>
          </a:p>
          <a:p>
            <a:pPr algn="l" marL="302790" indent="-151395" lvl="1">
              <a:lnSpc>
                <a:spcPts val="1963"/>
              </a:lnSpc>
              <a:buFont typeface="Arial"/>
              <a:buChar char="•"/>
            </a:pPr>
            <a:r>
              <a:rPr lang="en-US" sz="1402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Live warehouse digital twin for real-time monitoring &amp; collision prevention.</a:t>
            </a:r>
          </a:p>
          <a:p>
            <a:pPr algn="l">
              <a:lnSpc>
                <a:spcPts val="1963"/>
              </a:lnSpc>
            </a:pPr>
          </a:p>
        </p:txBody>
      </p:sp>
      <p:sp>
        <p:nvSpPr>
          <p:cNvPr name="TextBox 19" id="19"/>
          <p:cNvSpPr txBox="true"/>
          <p:nvPr/>
        </p:nvSpPr>
        <p:spPr>
          <a:xfrm rot="0">
            <a:off x="658853" y="3979781"/>
            <a:ext cx="1290601" cy="366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4"/>
              </a:lnSpc>
              <a:spcBef>
                <a:spcPct val="0"/>
              </a:spcBef>
            </a:pPr>
            <a:r>
              <a:rPr lang="en-US" b="true" sz="1274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KE</a:t>
            </a:r>
            <a:r>
              <a:rPr lang="en-US" b="true" sz="1274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Y FEATURES:</a:t>
            </a:r>
          </a:p>
          <a:p>
            <a:pPr algn="ctr">
              <a:lnSpc>
                <a:spcPts val="1116"/>
              </a:lnSpc>
              <a:spcBef>
                <a:spcPct val="0"/>
              </a:spcBef>
            </a:pPr>
          </a:p>
        </p:txBody>
      </p:sp>
      <p:sp>
        <p:nvSpPr>
          <p:cNvPr name="TextBox 20" id="20"/>
          <p:cNvSpPr txBox="true"/>
          <p:nvPr/>
        </p:nvSpPr>
        <p:spPr>
          <a:xfrm rot="0">
            <a:off x="403414" y="447223"/>
            <a:ext cx="722600" cy="3658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51"/>
              </a:lnSpc>
            </a:pPr>
            <a:r>
              <a:rPr lang="en-US" b="true" sz="1179" i="true" spc="11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LOOSE </a:t>
            </a:r>
          </a:p>
          <a:p>
            <a:pPr algn="ctr">
              <a:lnSpc>
                <a:spcPts val="1232"/>
              </a:lnSpc>
              <a:spcBef>
                <a:spcPct val="0"/>
              </a:spcBef>
            </a:pPr>
            <a:r>
              <a:rPr lang="en-US" b="true" sz="880" i="true" spc="8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      SCREWS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6376416"/>
            <a:ext cx="12187171" cy="476860"/>
            <a:chOff x="0" y="0"/>
            <a:chExt cx="16249561" cy="63581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249523" cy="635762"/>
            </a:xfrm>
            <a:custGeom>
              <a:avLst/>
              <a:gdLst/>
              <a:ahLst/>
              <a:cxnLst/>
              <a:rect r="r" b="b" t="t" l="l"/>
              <a:pathLst>
                <a:path h="635762" w="16249523">
                  <a:moveTo>
                    <a:pt x="0" y="0"/>
                  </a:moveTo>
                  <a:lnTo>
                    <a:pt x="16249523" y="0"/>
                  </a:lnTo>
                  <a:lnTo>
                    <a:pt x="16249523" y="635762"/>
                  </a:lnTo>
                  <a:lnTo>
                    <a:pt x="0" y="6357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7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0" y="6355080"/>
            <a:ext cx="12192000" cy="502920"/>
          </a:xfrm>
          <a:custGeom>
            <a:avLst/>
            <a:gdLst/>
            <a:ahLst/>
            <a:cxnLst/>
            <a:rect r="r" b="b" t="t" l="l"/>
            <a:pathLst>
              <a:path h="502920" w="12192000">
                <a:moveTo>
                  <a:pt x="0" y="0"/>
                </a:moveTo>
                <a:lnTo>
                  <a:pt x="12192000" y="0"/>
                </a:lnTo>
                <a:lnTo>
                  <a:pt x="12192000" y="502920"/>
                </a:lnTo>
                <a:lnTo>
                  <a:pt x="0" y="5029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53489" y="177289"/>
            <a:ext cx="1404109" cy="959101"/>
          </a:xfrm>
          <a:custGeom>
            <a:avLst/>
            <a:gdLst/>
            <a:ahLst/>
            <a:cxnLst/>
            <a:rect r="r" b="b" t="t" l="l"/>
            <a:pathLst>
              <a:path h="959101" w="1404109">
                <a:moveTo>
                  <a:pt x="0" y="0"/>
                </a:moveTo>
                <a:lnTo>
                  <a:pt x="1404109" y="0"/>
                </a:lnTo>
                <a:lnTo>
                  <a:pt x="1404109" y="959101"/>
                </a:lnTo>
                <a:lnTo>
                  <a:pt x="0" y="95910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9841992" y="57912"/>
            <a:ext cx="2209800" cy="1121664"/>
            <a:chOff x="0" y="0"/>
            <a:chExt cx="2946400" cy="149555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946400" cy="1495552"/>
            </a:xfrm>
            <a:custGeom>
              <a:avLst/>
              <a:gdLst/>
              <a:ahLst/>
              <a:cxnLst/>
              <a:rect r="r" b="b" t="t" l="l"/>
              <a:pathLst>
                <a:path h="1495552" w="2946400">
                  <a:moveTo>
                    <a:pt x="0" y="0"/>
                  </a:moveTo>
                  <a:lnTo>
                    <a:pt x="2946400" y="0"/>
                  </a:lnTo>
                  <a:lnTo>
                    <a:pt x="2946400" y="1495552"/>
                  </a:lnTo>
                  <a:lnTo>
                    <a:pt x="0" y="149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685800" y="1126021"/>
            <a:ext cx="5721873" cy="5229059"/>
          </a:xfrm>
          <a:custGeom>
            <a:avLst/>
            <a:gdLst/>
            <a:ahLst/>
            <a:cxnLst/>
            <a:rect r="r" b="b" t="t" l="l"/>
            <a:pathLst>
              <a:path h="5229059" w="5721873">
                <a:moveTo>
                  <a:pt x="0" y="0"/>
                </a:moveTo>
                <a:lnTo>
                  <a:pt x="5721873" y="0"/>
                </a:lnTo>
                <a:lnTo>
                  <a:pt x="5721873" y="5229059"/>
                </a:lnTo>
                <a:lnTo>
                  <a:pt x="0" y="522905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7159081" y="1190240"/>
            <a:ext cx="4347119" cy="5100620"/>
          </a:xfrm>
          <a:custGeom>
            <a:avLst/>
            <a:gdLst/>
            <a:ahLst/>
            <a:cxnLst/>
            <a:rect r="r" b="b" t="t" l="l"/>
            <a:pathLst>
              <a:path h="5100620" w="4347119">
                <a:moveTo>
                  <a:pt x="0" y="0"/>
                </a:moveTo>
                <a:lnTo>
                  <a:pt x="4347119" y="0"/>
                </a:lnTo>
                <a:lnTo>
                  <a:pt x="4347119" y="5100620"/>
                </a:lnTo>
                <a:lnTo>
                  <a:pt x="0" y="510062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3384804" y="170145"/>
            <a:ext cx="5529863" cy="6347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b="true" sz="3602" i="true">
                <a:solidFill>
                  <a:srgbClr val="000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TECHNICAL APPROACH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121907" y="6418745"/>
            <a:ext cx="2302707" cy="217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@SIH Idea submission-Template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407397" y="6418745"/>
            <a:ext cx="86430" cy="217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b="true" sz="1200" i="true">
                <a:solidFill>
                  <a:srgbClr val="FFFF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3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3156387">
            <a:off x="1064261" y="446535"/>
            <a:ext cx="548517" cy="383962"/>
          </a:xfrm>
          <a:custGeom>
            <a:avLst/>
            <a:gdLst/>
            <a:ahLst/>
            <a:cxnLst/>
            <a:rect r="r" b="b" t="t" l="l"/>
            <a:pathLst>
              <a:path h="383962" w="548517">
                <a:moveTo>
                  <a:pt x="0" y="0"/>
                </a:moveTo>
                <a:lnTo>
                  <a:pt x="548516" y="0"/>
                </a:lnTo>
                <a:lnTo>
                  <a:pt x="548516" y="383961"/>
                </a:lnTo>
                <a:lnTo>
                  <a:pt x="0" y="38396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301114" y="426444"/>
            <a:ext cx="933631" cy="471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34"/>
              </a:lnSpc>
            </a:pPr>
            <a:r>
              <a:rPr lang="en-US" b="true" sz="1524" i="true" spc="15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LOOSE </a:t>
            </a:r>
          </a:p>
          <a:p>
            <a:pPr algn="ctr">
              <a:lnSpc>
                <a:spcPts val="1591"/>
              </a:lnSpc>
              <a:spcBef>
                <a:spcPct val="0"/>
              </a:spcBef>
            </a:pPr>
            <a:r>
              <a:rPr lang="en-US" b="true" sz="1137" i="true" spc="11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      SCREWS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6376416"/>
            <a:ext cx="12187171" cy="476860"/>
            <a:chOff x="0" y="0"/>
            <a:chExt cx="16249561" cy="63581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249523" cy="635762"/>
            </a:xfrm>
            <a:custGeom>
              <a:avLst/>
              <a:gdLst/>
              <a:ahLst/>
              <a:cxnLst/>
              <a:rect r="r" b="b" t="t" l="l"/>
              <a:pathLst>
                <a:path h="635762" w="16249523">
                  <a:moveTo>
                    <a:pt x="0" y="0"/>
                  </a:moveTo>
                  <a:lnTo>
                    <a:pt x="16249523" y="0"/>
                  </a:lnTo>
                  <a:lnTo>
                    <a:pt x="16249523" y="635762"/>
                  </a:lnTo>
                  <a:lnTo>
                    <a:pt x="0" y="6357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7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0" y="6355080"/>
            <a:ext cx="12192000" cy="502920"/>
          </a:xfrm>
          <a:custGeom>
            <a:avLst/>
            <a:gdLst/>
            <a:ahLst/>
            <a:cxnLst/>
            <a:rect r="r" b="b" t="t" l="l"/>
            <a:pathLst>
              <a:path h="502920" w="12192000">
                <a:moveTo>
                  <a:pt x="0" y="0"/>
                </a:moveTo>
                <a:lnTo>
                  <a:pt x="12192000" y="0"/>
                </a:lnTo>
                <a:lnTo>
                  <a:pt x="12192000" y="502920"/>
                </a:lnTo>
                <a:lnTo>
                  <a:pt x="0" y="5029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53489" y="177289"/>
            <a:ext cx="1404109" cy="959101"/>
          </a:xfrm>
          <a:custGeom>
            <a:avLst/>
            <a:gdLst/>
            <a:ahLst/>
            <a:cxnLst/>
            <a:rect r="r" b="b" t="t" l="l"/>
            <a:pathLst>
              <a:path h="959101" w="1404109">
                <a:moveTo>
                  <a:pt x="0" y="0"/>
                </a:moveTo>
                <a:lnTo>
                  <a:pt x="1404109" y="0"/>
                </a:lnTo>
                <a:lnTo>
                  <a:pt x="1404109" y="959101"/>
                </a:lnTo>
                <a:lnTo>
                  <a:pt x="0" y="95910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9841992" y="57912"/>
            <a:ext cx="2209800" cy="1121664"/>
            <a:chOff x="0" y="0"/>
            <a:chExt cx="2946400" cy="149555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946400" cy="1495552"/>
            </a:xfrm>
            <a:custGeom>
              <a:avLst/>
              <a:gdLst/>
              <a:ahLst/>
              <a:cxnLst/>
              <a:rect r="r" b="b" t="t" l="l"/>
              <a:pathLst>
                <a:path h="1495552" w="2946400">
                  <a:moveTo>
                    <a:pt x="0" y="0"/>
                  </a:moveTo>
                  <a:lnTo>
                    <a:pt x="2946400" y="0"/>
                  </a:lnTo>
                  <a:lnTo>
                    <a:pt x="2946400" y="1495552"/>
                  </a:lnTo>
                  <a:lnTo>
                    <a:pt x="0" y="149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-24000">
            <a:off x="6713084" y="3301490"/>
            <a:ext cx="5139269" cy="2960938"/>
          </a:xfrm>
          <a:custGeom>
            <a:avLst/>
            <a:gdLst/>
            <a:ahLst/>
            <a:cxnLst/>
            <a:rect r="r" b="b" t="t" l="l"/>
            <a:pathLst>
              <a:path h="2960938" w="5139269">
                <a:moveTo>
                  <a:pt x="20422" y="0"/>
                </a:moveTo>
                <a:lnTo>
                  <a:pt x="5139269" y="35737"/>
                </a:lnTo>
                <a:lnTo>
                  <a:pt x="5118847" y="2960938"/>
                </a:lnTo>
                <a:lnTo>
                  <a:pt x="0" y="2925201"/>
                </a:lnTo>
                <a:lnTo>
                  <a:pt x="20422" y="0"/>
                </a:lnTo>
                <a:close/>
              </a:path>
            </a:pathLst>
          </a:custGeom>
          <a:blipFill>
            <a:blip r:embed="rId8"/>
            <a:stretch>
              <a:fillRect l="-5631" t="-4857" r="-10530" b="-10738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09579" y="3319323"/>
            <a:ext cx="5124062" cy="3051146"/>
          </a:xfrm>
          <a:custGeom>
            <a:avLst/>
            <a:gdLst/>
            <a:ahLst/>
            <a:cxnLst/>
            <a:rect r="r" b="b" t="t" l="l"/>
            <a:pathLst>
              <a:path h="3051146" w="5124062">
                <a:moveTo>
                  <a:pt x="0" y="0"/>
                </a:moveTo>
                <a:lnTo>
                  <a:pt x="5124061" y="0"/>
                </a:lnTo>
                <a:lnTo>
                  <a:pt x="5124061" y="3051145"/>
                </a:lnTo>
                <a:lnTo>
                  <a:pt x="0" y="305114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241293" y="1136390"/>
            <a:ext cx="5748473" cy="2074952"/>
            <a:chOff x="0" y="0"/>
            <a:chExt cx="2271002" cy="81973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71001" cy="819734"/>
            </a:xfrm>
            <a:custGeom>
              <a:avLst/>
              <a:gdLst/>
              <a:ahLst/>
              <a:cxnLst/>
              <a:rect r="r" b="b" t="t" l="l"/>
              <a:pathLst>
                <a:path h="819734" w="2271001">
                  <a:moveTo>
                    <a:pt x="45790" y="0"/>
                  </a:moveTo>
                  <a:lnTo>
                    <a:pt x="2225211" y="0"/>
                  </a:lnTo>
                  <a:cubicBezTo>
                    <a:pt x="2237355" y="0"/>
                    <a:pt x="2249002" y="4824"/>
                    <a:pt x="2257590" y="13412"/>
                  </a:cubicBezTo>
                  <a:cubicBezTo>
                    <a:pt x="2266177" y="21999"/>
                    <a:pt x="2271001" y="33646"/>
                    <a:pt x="2271001" y="45790"/>
                  </a:cubicBezTo>
                  <a:lnTo>
                    <a:pt x="2271001" y="773944"/>
                  </a:lnTo>
                  <a:cubicBezTo>
                    <a:pt x="2271001" y="786088"/>
                    <a:pt x="2266177" y="797735"/>
                    <a:pt x="2257590" y="806322"/>
                  </a:cubicBezTo>
                  <a:cubicBezTo>
                    <a:pt x="2249002" y="814910"/>
                    <a:pt x="2237355" y="819734"/>
                    <a:pt x="2225211" y="819734"/>
                  </a:cubicBezTo>
                  <a:lnTo>
                    <a:pt x="45790" y="819734"/>
                  </a:lnTo>
                  <a:cubicBezTo>
                    <a:pt x="33646" y="819734"/>
                    <a:pt x="21999" y="814910"/>
                    <a:pt x="13412" y="806322"/>
                  </a:cubicBezTo>
                  <a:cubicBezTo>
                    <a:pt x="4824" y="797735"/>
                    <a:pt x="0" y="786088"/>
                    <a:pt x="0" y="773944"/>
                  </a:cubicBezTo>
                  <a:lnTo>
                    <a:pt x="0" y="45790"/>
                  </a:lnTo>
                  <a:cubicBezTo>
                    <a:pt x="0" y="33646"/>
                    <a:pt x="4824" y="21999"/>
                    <a:pt x="13412" y="13412"/>
                  </a:cubicBezTo>
                  <a:cubicBezTo>
                    <a:pt x="21999" y="4824"/>
                    <a:pt x="33646" y="0"/>
                    <a:pt x="45790" y="0"/>
                  </a:cubicBezTo>
                  <a:close/>
                </a:path>
              </a:pathLst>
            </a:custGeom>
            <a:solidFill>
              <a:srgbClr val="2D3B50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2271002" cy="8578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2823715" y="170145"/>
            <a:ext cx="6686693" cy="6347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b="true" sz="3602" i="true">
                <a:solidFill>
                  <a:srgbClr val="000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FEASIBILITY AND VIABILITY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121907" y="6418745"/>
            <a:ext cx="2302707" cy="217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@SIH Idea submission-Template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407397" y="6418745"/>
            <a:ext cx="86430" cy="217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b="true" sz="1200" i="true">
                <a:solidFill>
                  <a:srgbClr val="FFFF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4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96438" y="1200406"/>
            <a:ext cx="5237202" cy="1804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r>
              <a:rPr lang="en-US" b="true" sz="2199" spc="21">
                <a:solidFill>
                  <a:srgbClr val="FFDE59"/>
                </a:solidFill>
                <a:latin typeface="Arial Bold"/>
                <a:ea typeface="Arial Bold"/>
                <a:cs typeface="Arial Bold"/>
                <a:sym typeface="Arial Bold"/>
              </a:rPr>
              <a:t>TECHNICALLY FEASIBLE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 spc="2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ROS 2 + DDS → P2P coordination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 spc="2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ORCA / NH-ORCA → real-time avoidance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 spc="2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Priority-based planning → 20+ AMRs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 spc="2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Edge-AI → predictive traffic management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273260" y="1136390"/>
            <a:ext cx="5778532" cy="2072448"/>
            <a:chOff x="0" y="0"/>
            <a:chExt cx="2282877" cy="81874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2877" cy="818745"/>
            </a:xfrm>
            <a:custGeom>
              <a:avLst/>
              <a:gdLst/>
              <a:ahLst/>
              <a:cxnLst/>
              <a:rect r="r" b="b" t="t" l="l"/>
              <a:pathLst>
                <a:path h="818745" w="2282877">
                  <a:moveTo>
                    <a:pt x="45552" y="0"/>
                  </a:moveTo>
                  <a:lnTo>
                    <a:pt x="2237324" y="0"/>
                  </a:lnTo>
                  <a:cubicBezTo>
                    <a:pt x="2249406" y="0"/>
                    <a:pt x="2260992" y="4799"/>
                    <a:pt x="2269535" y="13342"/>
                  </a:cubicBezTo>
                  <a:cubicBezTo>
                    <a:pt x="2278077" y="21885"/>
                    <a:pt x="2282877" y="33471"/>
                    <a:pt x="2282877" y="45552"/>
                  </a:cubicBezTo>
                  <a:lnTo>
                    <a:pt x="2282877" y="773193"/>
                  </a:lnTo>
                  <a:cubicBezTo>
                    <a:pt x="2282877" y="798351"/>
                    <a:pt x="2262482" y="818745"/>
                    <a:pt x="2237324" y="818745"/>
                  </a:cubicBezTo>
                  <a:lnTo>
                    <a:pt x="45552" y="818745"/>
                  </a:lnTo>
                  <a:cubicBezTo>
                    <a:pt x="33471" y="818745"/>
                    <a:pt x="21885" y="813946"/>
                    <a:pt x="13342" y="805403"/>
                  </a:cubicBezTo>
                  <a:cubicBezTo>
                    <a:pt x="4799" y="796860"/>
                    <a:pt x="0" y="785274"/>
                    <a:pt x="0" y="773193"/>
                  </a:cubicBezTo>
                  <a:lnTo>
                    <a:pt x="0" y="45552"/>
                  </a:lnTo>
                  <a:cubicBezTo>
                    <a:pt x="0" y="20394"/>
                    <a:pt x="20394" y="0"/>
                    <a:pt x="45552" y="0"/>
                  </a:cubicBezTo>
                  <a:close/>
                </a:path>
              </a:pathLst>
            </a:custGeom>
            <a:solidFill>
              <a:srgbClr val="2D3B5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2877" cy="8568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6523327" y="1192799"/>
            <a:ext cx="5261727" cy="1804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r>
              <a:rPr lang="en-US" b="true" sz="2199">
                <a:solidFill>
                  <a:srgbClr val="FFDE59"/>
                </a:solidFill>
                <a:latin typeface="Arial Bold"/>
                <a:ea typeface="Arial Bold"/>
                <a:cs typeface="Arial Bold"/>
                <a:sym typeface="Arial Bold"/>
              </a:rPr>
              <a:t>OPERATIONALLY VIABLE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Network failure resilient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&lt;5 s recovery target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&gt;95% task completion target</a:t>
            </a:r>
          </a:p>
          <a:p>
            <a:pPr algn="l" marL="431799" indent="-215899" lvl="1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 collision target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3156387">
            <a:off x="1064261" y="437010"/>
            <a:ext cx="548517" cy="383962"/>
          </a:xfrm>
          <a:custGeom>
            <a:avLst/>
            <a:gdLst/>
            <a:ahLst/>
            <a:cxnLst/>
            <a:rect r="r" b="b" t="t" l="l"/>
            <a:pathLst>
              <a:path h="383962" w="548517">
                <a:moveTo>
                  <a:pt x="0" y="0"/>
                </a:moveTo>
                <a:lnTo>
                  <a:pt x="548516" y="0"/>
                </a:lnTo>
                <a:lnTo>
                  <a:pt x="548516" y="383961"/>
                </a:lnTo>
                <a:lnTo>
                  <a:pt x="0" y="38396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301114" y="416919"/>
            <a:ext cx="933631" cy="471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34"/>
              </a:lnSpc>
            </a:pPr>
            <a:r>
              <a:rPr lang="en-US" b="true" sz="1524" i="true" spc="15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LOOSE </a:t>
            </a:r>
          </a:p>
          <a:p>
            <a:pPr algn="ctr">
              <a:lnSpc>
                <a:spcPts val="1591"/>
              </a:lnSpc>
              <a:spcBef>
                <a:spcPct val="0"/>
              </a:spcBef>
            </a:pPr>
            <a:r>
              <a:rPr lang="en-US" b="true" sz="1137" i="true" spc="11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      SCREWS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6376416"/>
            <a:ext cx="12187171" cy="476860"/>
            <a:chOff x="0" y="0"/>
            <a:chExt cx="16249561" cy="63581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249523" cy="635762"/>
            </a:xfrm>
            <a:custGeom>
              <a:avLst/>
              <a:gdLst/>
              <a:ahLst/>
              <a:cxnLst/>
              <a:rect r="r" b="b" t="t" l="l"/>
              <a:pathLst>
                <a:path h="635762" w="16249523">
                  <a:moveTo>
                    <a:pt x="0" y="0"/>
                  </a:moveTo>
                  <a:lnTo>
                    <a:pt x="16249523" y="0"/>
                  </a:lnTo>
                  <a:lnTo>
                    <a:pt x="16249523" y="635762"/>
                  </a:lnTo>
                  <a:lnTo>
                    <a:pt x="0" y="6357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7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0" y="6355080"/>
            <a:ext cx="12192000" cy="502920"/>
          </a:xfrm>
          <a:custGeom>
            <a:avLst/>
            <a:gdLst/>
            <a:ahLst/>
            <a:cxnLst/>
            <a:rect r="r" b="b" t="t" l="l"/>
            <a:pathLst>
              <a:path h="502920" w="12192000">
                <a:moveTo>
                  <a:pt x="0" y="0"/>
                </a:moveTo>
                <a:lnTo>
                  <a:pt x="12192000" y="0"/>
                </a:lnTo>
                <a:lnTo>
                  <a:pt x="12192000" y="502920"/>
                </a:lnTo>
                <a:lnTo>
                  <a:pt x="0" y="5029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53489" y="177289"/>
            <a:ext cx="1404109" cy="959101"/>
          </a:xfrm>
          <a:custGeom>
            <a:avLst/>
            <a:gdLst/>
            <a:ahLst/>
            <a:cxnLst/>
            <a:rect r="r" b="b" t="t" l="l"/>
            <a:pathLst>
              <a:path h="959101" w="1404109">
                <a:moveTo>
                  <a:pt x="0" y="0"/>
                </a:moveTo>
                <a:lnTo>
                  <a:pt x="1404109" y="0"/>
                </a:lnTo>
                <a:lnTo>
                  <a:pt x="1404109" y="959101"/>
                </a:lnTo>
                <a:lnTo>
                  <a:pt x="0" y="95910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9841992" y="57912"/>
            <a:ext cx="2209800" cy="1121664"/>
            <a:chOff x="0" y="0"/>
            <a:chExt cx="2946400" cy="149555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946400" cy="1495552"/>
            </a:xfrm>
            <a:custGeom>
              <a:avLst/>
              <a:gdLst/>
              <a:ahLst/>
              <a:cxnLst/>
              <a:rect r="r" b="b" t="t" l="l"/>
              <a:pathLst>
                <a:path h="1495552" w="2946400">
                  <a:moveTo>
                    <a:pt x="0" y="0"/>
                  </a:moveTo>
                  <a:lnTo>
                    <a:pt x="2946400" y="0"/>
                  </a:lnTo>
                  <a:lnTo>
                    <a:pt x="2946400" y="1495552"/>
                  </a:lnTo>
                  <a:lnTo>
                    <a:pt x="0" y="149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3156387">
            <a:off x="1064261" y="446535"/>
            <a:ext cx="548517" cy="383962"/>
          </a:xfrm>
          <a:custGeom>
            <a:avLst/>
            <a:gdLst/>
            <a:ahLst/>
            <a:cxnLst/>
            <a:rect r="r" b="b" t="t" l="l"/>
            <a:pathLst>
              <a:path h="383962" w="548517">
                <a:moveTo>
                  <a:pt x="0" y="0"/>
                </a:moveTo>
                <a:lnTo>
                  <a:pt x="548516" y="0"/>
                </a:lnTo>
                <a:lnTo>
                  <a:pt x="548516" y="383961"/>
                </a:lnTo>
                <a:lnTo>
                  <a:pt x="0" y="38396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642700" y="2438580"/>
            <a:ext cx="1980841" cy="1980841"/>
          </a:xfrm>
          <a:custGeom>
            <a:avLst/>
            <a:gdLst/>
            <a:ahLst/>
            <a:cxnLst/>
            <a:rect r="r" b="b" t="t" l="l"/>
            <a:pathLst>
              <a:path h="1980841" w="1980841">
                <a:moveTo>
                  <a:pt x="0" y="0"/>
                </a:moveTo>
                <a:lnTo>
                  <a:pt x="1980840" y="0"/>
                </a:lnTo>
                <a:lnTo>
                  <a:pt x="1980840" y="1980840"/>
                </a:lnTo>
                <a:lnTo>
                  <a:pt x="0" y="198084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514376" y="3216009"/>
            <a:ext cx="548517" cy="383962"/>
          </a:xfrm>
          <a:custGeom>
            <a:avLst/>
            <a:gdLst/>
            <a:ahLst/>
            <a:cxnLst/>
            <a:rect r="r" b="b" t="t" l="l"/>
            <a:pathLst>
              <a:path h="383962" w="548517">
                <a:moveTo>
                  <a:pt x="0" y="0"/>
                </a:moveTo>
                <a:lnTo>
                  <a:pt x="548517" y="0"/>
                </a:lnTo>
                <a:lnTo>
                  <a:pt x="548517" y="383962"/>
                </a:lnTo>
                <a:lnTo>
                  <a:pt x="0" y="383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0585434">
            <a:off x="10162026" y="3207478"/>
            <a:ext cx="572891" cy="401024"/>
          </a:xfrm>
          <a:custGeom>
            <a:avLst/>
            <a:gdLst/>
            <a:ahLst/>
            <a:cxnLst/>
            <a:rect r="r" b="b" t="t" l="l"/>
            <a:pathLst>
              <a:path h="401024" w="572891">
                <a:moveTo>
                  <a:pt x="0" y="0"/>
                </a:moveTo>
                <a:lnTo>
                  <a:pt x="572891" y="0"/>
                </a:lnTo>
                <a:lnTo>
                  <a:pt x="572891" y="401024"/>
                </a:lnTo>
                <a:lnTo>
                  <a:pt x="0" y="4010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-5400000">
            <a:off x="9283977" y="3904922"/>
            <a:ext cx="634242" cy="443969"/>
          </a:xfrm>
          <a:custGeom>
            <a:avLst/>
            <a:gdLst/>
            <a:ahLst/>
            <a:cxnLst/>
            <a:rect r="r" b="b" t="t" l="l"/>
            <a:pathLst>
              <a:path h="443969" w="634242">
                <a:moveTo>
                  <a:pt x="0" y="0"/>
                </a:moveTo>
                <a:lnTo>
                  <a:pt x="634241" y="0"/>
                </a:lnTo>
                <a:lnTo>
                  <a:pt x="634241" y="443969"/>
                </a:lnTo>
                <a:lnTo>
                  <a:pt x="0" y="44396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5400000">
            <a:off x="9271436" y="2464217"/>
            <a:ext cx="659323" cy="461526"/>
          </a:xfrm>
          <a:custGeom>
            <a:avLst/>
            <a:gdLst/>
            <a:ahLst/>
            <a:cxnLst/>
            <a:rect r="r" b="b" t="t" l="l"/>
            <a:pathLst>
              <a:path h="461526" w="659323">
                <a:moveTo>
                  <a:pt x="0" y="0"/>
                </a:moveTo>
                <a:lnTo>
                  <a:pt x="659323" y="0"/>
                </a:lnTo>
                <a:lnTo>
                  <a:pt x="659323" y="461527"/>
                </a:lnTo>
                <a:lnTo>
                  <a:pt x="0" y="46152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7002269" y="2657394"/>
            <a:ext cx="1546844" cy="1554617"/>
          </a:xfrm>
          <a:custGeom>
            <a:avLst/>
            <a:gdLst/>
            <a:ahLst/>
            <a:cxnLst/>
            <a:rect r="r" b="b" t="t" l="l"/>
            <a:pathLst>
              <a:path h="1554617" w="1546844">
                <a:moveTo>
                  <a:pt x="0" y="0"/>
                </a:moveTo>
                <a:lnTo>
                  <a:pt x="1546844" y="0"/>
                </a:lnTo>
                <a:lnTo>
                  <a:pt x="1546844" y="1554617"/>
                </a:lnTo>
                <a:lnTo>
                  <a:pt x="0" y="155461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8788634" y="878691"/>
            <a:ext cx="1485958" cy="1493425"/>
          </a:xfrm>
          <a:custGeom>
            <a:avLst/>
            <a:gdLst/>
            <a:ahLst/>
            <a:cxnLst/>
            <a:rect r="r" b="b" t="t" l="l"/>
            <a:pathLst>
              <a:path h="1493425" w="1485958">
                <a:moveTo>
                  <a:pt x="0" y="0"/>
                </a:moveTo>
                <a:lnTo>
                  <a:pt x="1485959" y="0"/>
                </a:lnTo>
                <a:lnTo>
                  <a:pt x="1485959" y="1493425"/>
                </a:lnTo>
                <a:lnTo>
                  <a:pt x="0" y="1493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0661640" y="2657394"/>
            <a:ext cx="1440722" cy="1447962"/>
          </a:xfrm>
          <a:custGeom>
            <a:avLst/>
            <a:gdLst/>
            <a:ahLst/>
            <a:cxnLst/>
            <a:rect r="r" b="b" t="t" l="l"/>
            <a:pathLst>
              <a:path h="1447962" w="1440722">
                <a:moveTo>
                  <a:pt x="0" y="0"/>
                </a:moveTo>
                <a:lnTo>
                  <a:pt x="1440722" y="0"/>
                </a:lnTo>
                <a:lnTo>
                  <a:pt x="1440722" y="1447961"/>
                </a:lnTo>
                <a:lnTo>
                  <a:pt x="0" y="144796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8920320" y="4464312"/>
            <a:ext cx="1440722" cy="1447962"/>
          </a:xfrm>
          <a:custGeom>
            <a:avLst/>
            <a:gdLst/>
            <a:ahLst/>
            <a:cxnLst/>
            <a:rect r="r" b="b" t="t" l="l"/>
            <a:pathLst>
              <a:path h="1447962" w="1440722">
                <a:moveTo>
                  <a:pt x="0" y="0"/>
                </a:moveTo>
                <a:lnTo>
                  <a:pt x="1440721" y="0"/>
                </a:lnTo>
                <a:lnTo>
                  <a:pt x="1440721" y="1447962"/>
                </a:lnTo>
                <a:lnTo>
                  <a:pt x="0" y="144796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646944" y="2461076"/>
            <a:ext cx="1908307" cy="1947252"/>
          </a:xfrm>
          <a:custGeom>
            <a:avLst/>
            <a:gdLst/>
            <a:ahLst/>
            <a:cxnLst/>
            <a:rect r="r" b="b" t="t" l="l"/>
            <a:pathLst>
              <a:path h="1947252" w="1908307">
                <a:moveTo>
                  <a:pt x="0" y="0"/>
                </a:moveTo>
                <a:lnTo>
                  <a:pt x="1908307" y="0"/>
                </a:lnTo>
                <a:lnTo>
                  <a:pt x="1908307" y="1947252"/>
                </a:lnTo>
                <a:lnTo>
                  <a:pt x="0" y="1947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85800" y="1333021"/>
            <a:ext cx="3083052" cy="4533900"/>
          </a:xfrm>
          <a:custGeom>
            <a:avLst/>
            <a:gdLst/>
            <a:ahLst/>
            <a:cxnLst/>
            <a:rect r="r" b="b" t="t" l="l"/>
            <a:pathLst>
              <a:path h="4533900" w="3083052">
                <a:moveTo>
                  <a:pt x="0" y="0"/>
                </a:moveTo>
                <a:lnTo>
                  <a:pt x="3083052" y="0"/>
                </a:lnTo>
                <a:lnTo>
                  <a:pt x="3083052" y="4533900"/>
                </a:lnTo>
                <a:lnTo>
                  <a:pt x="0" y="453390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3873627" y="3088069"/>
            <a:ext cx="3023867" cy="3023867"/>
          </a:xfrm>
          <a:custGeom>
            <a:avLst/>
            <a:gdLst/>
            <a:ahLst/>
            <a:cxnLst/>
            <a:rect r="r" b="b" t="t" l="l"/>
            <a:pathLst>
              <a:path h="3023867" w="3023867">
                <a:moveTo>
                  <a:pt x="0" y="0"/>
                </a:moveTo>
                <a:lnTo>
                  <a:pt x="3023867" y="0"/>
                </a:lnTo>
                <a:lnTo>
                  <a:pt x="3023867" y="3023867"/>
                </a:lnTo>
                <a:lnTo>
                  <a:pt x="0" y="302386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3982825" y="854866"/>
            <a:ext cx="3720583" cy="1793003"/>
          </a:xfrm>
          <a:custGeom>
            <a:avLst/>
            <a:gdLst/>
            <a:ahLst/>
            <a:cxnLst/>
            <a:rect r="r" b="b" t="t" l="l"/>
            <a:pathLst>
              <a:path h="1793003" w="3720583">
                <a:moveTo>
                  <a:pt x="0" y="0"/>
                </a:moveTo>
                <a:lnTo>
                  <a:pt x="3720583" y="0"/>
                </a:lnTo>
                <a:lnTo>
                  <a:pt x="3720583" y="1793003"/>
                </a:lnTo>
                <a:lnTo>
                  <a:pt x="0" y="179300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-60831" t="-43790" r="-55484" b="-111502"/>
            </a:stretch>
          </a:blipFill>
        </p:spPr>
      </p:sp>
      <p:grpSp>
        <p:nvGrpSpPr>
          <p:cNvPr name="Group 22" id="22"/>
          <p:cNvGrpSpPr/>
          <p:nvPr/>
        </p:nvGrpSpPr>
        <p:grpSpPr>
          <a:xfrm rot="0">
            <a:off x="6852285" y="2425065"/>
            <a:ext cx="835343" cy="375285"/>
            <a:chOff x="0" y="0"/>
            <a:chExt cx="1113790" cy="50038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50680" y="50575"/>
              <a:ext cx="1014850" cy="399198"/>
            </a:xfrm>
            <a:custGeom>
              <a:avLst/>
              <a:gdLst/>
              <a:ahLst/>
              <a:cxnLst/>
              <a:rect r="r" b="b" t="t" l="l"/>
              <a:pathLst>
                <a:path h="399198" w="1014850">
                  <a:moveTo>
                    <a:pt x="81400" y="348205"/>
                  </a:moveTo>
                  <a:cubicBezTo>
                    <a:pt x="52190" y="185645"/>
                    <a:pt x="76320" y="156435"/>
                    <a:pt x="110610" y="138655"/>
                  </a:cubicBezTo>
                  <a:cubicBezTo>
                    <a:pt x="165220" y="109445"/>
                    <a:pt x="276980" y="129765"/>
                    <a:pt x="376040" y="120875"/>
                  </a:cubicBezTo>
                  <a:cubicBezTo>
                    <a:pt x="501770" y="108175"/>
                    <a:pt x="694810" y="72615"/>
                    <a:pt x="800220" y="66265"/>
                  </a:cubicBezTo>
                  <a:cubicBezTo>
                    <a:pt x="862450" y="63725"/>
                    <a:pt x="915790" y="59915"/>
                    <a:pt x="948810" y="68805"/>
                  </a:cubicBezTo>
                  <a:cubicBezTo>
                    <a:pt x="966590" y="72615"/>
                    <a:pt x="976750" y="78965"/>
                    <a:pt x="986910" y="87855"/>
                  </a:cubicBezTo>
                  <a:cubicBezTo>
                    <a:pt x="997070" y="96745"/>
                    <a:pt x="1005960" y="109445"/>
                    <a:pt x="1011040" y="123415"/>
                  </a:cubicBezTo>
                  <a:cubicBezTo>
                    <a:pt x="1016120" y="139925"/>
                    <a:pt x="1016120" y="169135"/>
                    <a:pt x="1011040" y="185645"/>
                  </a:cubicBezTo>
                  <a:cubicBezTo>
                    <a:pt x="1005960" y="199615"/>
                    <a:pt x="997070" y="212315"/>
                    <a:pt x="986910" y="221205"/>
                  </a:cubicBezTo>
                  <a:cubicBezTo>
                    <a:pt x="976750" y="230095"/>
                    <a:pt x="965320" y="236445"/>
                    <a:pt x="948810" y="240255"/>
                  </a:cubicBezTo>
                  <a:cubicBezTo>
                    <a:pt x="923410" y="247875"/>
                    <a:pt x="882770" y="250415"/>
                    <a:pt x="844670" y="244065"/>
                  </a:cubicBezTo>
                  <a:cubicBezTo>
                    <a:pt x="793870" y="235175"/>
                    <a:pt x="730370" y="189455"/>
                    <a:pt x="674490" y="180565"/>
                  </a:cubicBezTo>
                  <a:cubicBezTo>
                    <a:pt x="621150" y="171675"/>
                    <a:pt x="567810" y="181835"/>
                    <a:pt x="514470" y="185645"/>
                  </a:cubicBezTo>
                  <a:cubicBezTo>
                    <a:pt x="458590" y="188185"/>
                    <a:pt x="400170" y="188185"/>
                    <a:pt x="344290" y="195805"/>
                  </a:cubicBezTo>
                  <a:cubicBezTo>
                    <a:pt x="288410" y="203425"/>
                    <a:pt x="223640" y="214855"/>
                    <a:pt x="180460" y="231365"/>
                  </a:cubicBezTo>
                  <a:cubicBezTo>
                    <a:pt x="148710" y="244065"/>
                    <a:pt x="129660" y="275815"/>
                    <a:pt x="102990" y="278355"/>
                  </a:cubicBezTo>
                  <a:cubicBezTo>
                    <a:pt x="77590" y="279625"/>
                    <a:pt x="39490" y="264385"/>
                    <a:pt x="22980" y="247875"/>
                  </a:cubicBezTo>
                  <a:cubicBezTo>
                    <a:pt x="7740" y="233905"/>
                    <a:pt x="-1150" y="212315"/>
                    <a:pt x="120" y="193265"/>
                  </a:cubicBezTo>
                  <a:cubicBezTo>
                    <a:pt x="120" y="169135"/>
                    <a:pt x="16630" y="131035"/>
                    <a:pt x="34410" y="114525"/>
                  </a:cubicBezTo>
                  <a:cubicBezTo>
                    <a:pt x="48380" y="100555"/>
                    <a:pt x="71240" y="94205"/>
                    <a:pt x="89020" y="94205"/>
                  </a:cubicBezTo>
                  <a:cubicBezTo>
                    <a:pt x="108070" y="94205"/>
                    <a:pt x="130930" y="99285"/>
                    <a:pt x="146170" y="111985"/>
                  </a:cubicBezTo>
                  <a:cubicBezTo>
                    <a:pt x="163950" y="127225"/>
                    <a:pt x="183000" y="165325"/>
                    <a:pt x="183000" y="189455"/>
                  </a:cubicBezTo>
                  <a:cubicBezTo>
                    <a:pt x="184270" y="209775"/>
                    <a:pt x="176650" y="230095"/>
                    <a:pt x="162680" y="244065"/>
                  </a:cubicBezTo>
                  <a:cubicBezTo>
                    <a:pt x="146170" y="261845"/>
                    <a:pt x="108070" y="280895"/>
                    <a:pt x="83940" y="278355"/>
                  </a:cubicBezTo>
                  <a:cubicBezTo>
                    <a:pt x="58540" y="275815"/>
                    <a:pt x="22980" y="252955"/>
                    <a:pt x="11550" y="231365"/>
                  </a:cubicBezTo>
                  <a:cubicBezTo>
                    <a:pt x="-1150" y="208505"/>
                    <a:pt x="-2420" y="170405"/>
                    <a:pt x="9010" y="145005"/>
                  </a:cubicBezTo>
                  <a:cubicBezTo>
                    <a:pt x="24250" y="111985"/>
                    <a:pt x="80130" y="78965"/>
                    <a:pt x="114420" y="61185"/>
                  </a:cubicBezTo>
                  <a:cubicBezTo>
                    <a:pt x="139820" y="47215"/>
                    <a:pt x="155060" y="43405"/>
                    <a:pt x="189350" y="35785"/>
                  </a:cubicBezTo>
                  <a:cubicBezTo>
                    <a:pt x="261740" y="20545"/>
                    <a:pt x="423030" y="1495"/>
                    <a:pt x="527170" y="225"/>
                  </a:cubicBezTo>
                  <a:cubicBezTo>
                    <a:pt x="614800" y="-1045"/>
                    <a:pt x="713860" y="2765"/>
                    <a:pt x="771010" y="19275"/>
                  </a:cubicBezTo>
                  <a:cubicBezTo>
                    <a:pt x="805300" y="28165"/>
                    <a:pt x="819270" y="49755"/>
                    <a:pt x="847210" y="57375"/>
                  </a:cubicBezTo>
                  <a:cubicBezTo>
                    <a:pt x="877690" y="67535"/>
                    <a:pt x="923410" y="61185"/>
                    <a:pt x="948810" y="68805"/>
                  </a:cubicBezTo>
                  <a:cubicBezTo>
                    <a:pt x="965320" y="72615"/>
                    <a:pt x="976750" y="78965"/>
                    <a:pt x="986910" y="87855"/>
                  </a:cubicBezTo>
                  <a:cubicBezTo>
                    <a:pt x="997070" y="96745"/>
                    <a:pt x="1005960" y="109445"/>
                    <a:pt x="1011040" y="123415"/>
                  </a:cubicBezTo>
                  <a:cubicBezTo>
                    <a:pt x="1016120" y="139925"/>
                    <a:pt x="1016120" y="169135"/>
                    <a:pt x="1011040" y="185645"/>
                  </a:cubicBezTo>
                  <a:cubicBezTo>
                    <a:pt x="1005960" y="199615"/>
                    <a:pt x="998340" y="212315"/>
                    <a:pt x="986910" y="221205"/>
                  </a:cubicBezTo>
                  <a:cubicBezTo>
                    <a:pt x="971670" y="232635"/>
                    <a:pt x="953890" y="238985"/>
                    <a:pt x="927220" y="242795"/>
                  </a:cubicBezTo>
                  <a:cubicBezTo>
                    <a:pt x="882770" y="251685"/>
                    <a:pt x="810380" y="238985"/>
                    <a:pt x="739260" y="242795"/>
                  </a:cubicBezTo>
                  <a:cubicBezTo>
                    <a:pt x="646550" y="249145"/>
                    <a:pt x="520820" y="277085"/>
                    <a:pt x="417950" y="284705"/>
                  </a:cubicBezTo>
                  <a:cubicBezTo>
                    <a:pt x="325240" y="292325"/>
                    <a:pt x="153790" y="310105"/>
                    <a:pt x="148710" y="293595"/>
                  </a:cubicBezTo>
                  <a:cubicBezTo>
                    <a:pt x="146170" y="285975"/>
                    <a:pt x="199510" y="246605"/>
                    <a:pt x="213480" y="252955"/>
                  </a:cubicBezTo>
                  <a:cubicBezTo>
                    <a:pt x="227450" y="258035"/>
                    <a:pt x="235070" y="311375"/>
                    <a:pt x="232530" y="334235"/>
                  </a:cubicBezTo>
                  <a:cubicBezTo>
                    <a:pt x="228720" y="353285"/>
                    <a:pt x="219830" y="371065"/>
                    <a:pt x="205860" y="382495"/>
                  </a:cubicBezTo>
                  <a:cubicBezTo>
                    <a:pt x="189350" y="393925"/>
                    <a:pt x="155060" y="402815"/>
                    <a:pt x="134740" y="397735"/>
                  </a:cubicBezTo>
                  <a:cubicBezTo>
                    <a:pt x="114420" y="392655"/>
                    <a:pt x="81400" y="348205"/>
                    <a:pt x="81400" y="348205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7482840" y="2257425"/>
            <a:ext cx="353378" cy="422910"/>
            <a:chOff x="0" y="0"/>
            <a:chExt cx="471170" cy="5638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50146" y="50800"/>
              <a:ext cx="370328" cy="461248"/>
            </a:xfrm>
            <a:custGeom>
              <a:avLst/>
              <a:gdLst/>
              <a:ahLst/>
              <a:cxnLst/>
              <a:rect r="r" b="b" t="t" l="l"/>
              <a:pathLst>
                <a:path h="461248" w="370328">
                  <a:moveTo>
                    <a:pt x="370224" y="87630"/>
                  </a:moveTo>
                  <a:cubicBezTo>
                    <a:pt x="307994" y="340360"/>
                    <a:pt x="280054" y="342900"/>
                    <a:pt x="263544" y="361950"/>
                  </a:cubicBezTo>
                  <a:cubicBezTo>
                    <a:pt x="244494" y="383540"/>
                    <a:pt x="241954" y="419100"/>
                    <a:pt x="217824" y="435610"/>
                  </a:cubicBezTo>
                  <a:cubicBezTo>
                    <a:pt x="188614" y="455930"/>
                    <a:pt x="118764" y="461010"/>
                    <a:pt x="87014" y="461010"/>
                  </a:cubicBezTo>
                  <a:cubicBezTo>
                    <a:pt x="70504" y="461010"/>
                    <a:pt x="60344" y="458470"/>
                    <a:pt x="48914" y="453390"/>
                  </a:cubicBezTo>
                  <a:cubicBezTo>
                    <a:pt x="36214" y="448310"/>
                    <a:pt x="24784" y="439420"/>
                    <a:pt x="17164" y="427990"/>
                  </a:cubicBezTo>
                  <a:cubicBezTo>
                    <a:pt x="9544" y="417830"/>
                    <a:pt x="3194" y="406400"/>
                    <a:pt x="654" y="392430"/>
                  </a:cubicBezTo>
                  <a:cubicBezTo>
                    <a:pt x="-616" y="374650"/>
                    <a:pt x="3194" y="349250"/>
                    <a:pt x="12084" y="334010"/>
                  </a:cubicBezTo>
                  <a:cubicBezTo>
                    <a:pt x="22244" y="317500"/>
                    <a:pt x="42564" y="303530"/>
                    <a:pt x="60344" y="297180"/>
                  </a:cubicBezTo>
                  <a:cubicBezTo>
                    <a:pt x="75584" y="292100"/>
                    <a:pt x="94634" y="292100"/>
                    <a:pt x="109874" y="298450"/>
                  </a:cubicBezTo>
                  <a:cubicBezTo>
                    <a:pt x="130194" y="307340"/>
                    <a:pt x="156864" y="335280"/>
                    <a:pt x="164484" y="355600"/>
                  </a:cubicBezTo>
                  <a:cubicBezTo>
                    <a:pt x="170834" y="372110"/>
                    <a:pt x="167024" y="393700"/>
                    <a:pt x="160674" y="408940"/>
                  </a:cubicBezTo>
                  <a:cubicBezTo>
                    <a:pt x="155594" y="424180"/>
                    <a:pt x="141624" y="440690"/>
                    <a:pt x="126384" y="449580"/>
                  </a:cubicBezTo>
                  <a:cubicBezTo>
                    <a:pt x="112414" y="458470"/>
                    <a:pt x="90824" y="462280"/>
                    <a:pt x="74314" y="461010"/>
                  </a:cubicBezTo>
                  <a:cubicBezTo>
                    <a:pt x="57804" y="458470"/>
                    <a:pt x="37484" y="452120"/>
                    <a:pt x="26054" y="438150"/>
                  </a:cubicBezTo>
                  <a:cubicBezTo>
                    <a:pt x="12084" y="421640"/>
                    <a:pt x="-3156" y="387350"/>
                    <a:pt x="654" y="364490"/>
                  </a:cubicBezTo>
                  <a:cubicBezTo>
                    <a:pt x="4464" y="341630"/>
                    <a:pt x="27324" y="311150"/>
                    <a:pt x="48914" y="302260"/>
                  </a:cubicBezTo>
                  <a:cubicBezTo>
                    <a:pt x="69234" y="292100"/>
                    <a:pt x="107334" y="294640"/>
                    <a:pt x="126384" y="306070"/>
                  </a:cubicBezTo>
                  <a:cubicBezTo>
                    <a:pt x="146704" y="318770"/>
                    <a:pt x="165754" y="350520"/>
                    <a:pt x="167024" y="373380"/>
                  </a:cubicBezTo>
                  <a:cubicBezTo>
                    <a:pt x="168294" y="396240"/>
                    <a:pt x="150514" y="430530"/>
                    <a:pt x="134004" y="444500"/>
                  </a:cubicBezTo>
                  <a:cubicBezTo>
                    <a:pt x="121304" y="455930"/>
                    <a:pt x="100984" y="461010"/>
                    <a:pt x="83204" y="461010"/>
                  </a:cubicBezTo>
                  <a:cubicBezTo>
                    <a:pt x="66694" y="461010"/>
                    <a:pt x="45104" y="454660"/>
                    <a:pt x="31134" y="443230"/>
                  </a:cubicBezTo>
                  <a:cubicBezTo>
                    <a:pt x="17164" y="431800"/>
                    <a:pt x="4464" y="410210"/>
                    <a:pt x="654" y="392430"/>
                  </a:cubicBezTo>
                  <a:cubicBezTo>
                    <a:pt x="-1886" y="373380"/>
                    <a:pt x="3194" y="349250"/>
                    <a:pt x="12084" y="334010"/>
                  </a:cubicBezTo>
                  <a:cubicBezTo>
                    <a:pt x="22244" y="317500"/>
                    <a:pt x="40024" y="303530"/>
                    <a:pt x="60344" y="297180"/>
                  </a:cubicBezTo>
                  <a:cubicBezTo>
                    <a:pt x="81934" y="290830"/>
                    <a:pt x="120034" y="312420"/>
                    <a:pt x="141624" y="300990"/>
                  </a:cubicBezTo>
                  <a:cubicBezTo>
                    <a:pt x="163214" y="289560"/>
                    <a:pt x="175914" y="259080"/>
                    <a:pt x="187344" y="227330"/>
                  </a:cubicBezTo>
                  <a:cubicBezTo>
                    <a:pt x="203854" y="185420"/>
                    <a:pt x="202584" y="104140"/>
                    <a:pt x="216554" y="67310"/>
                  </a:cubicBezTo>
                  <a:cubicBezTo>
                    <a:pt x="224174" y="45720"/>
                    <a:pt x="229254" y="30480"/>
                    <a:pt x="241954" y="19050"/>
                  </a:cubicBezTo>
                  <a:cubicBezTo>
                    <a:pt x="255924" y="7620"/>
                    <a:pt x="278784" y="1270"/>
                    <a:pt x="294024" y="0"/>
                  </a:cubicBezTo>
                  <a:cubicBezTo>
                    <a:pt x="306724" y="0"/>
                    <a:pt x="319424" y="2540"/>
                    <a:pt x="329584" y="10160"/>
                  </a:cubicBezTo>
                  <a:cubicBezTo>
                    <a:pt x="343554" y="17780"/>
                    <a:pt x="360064" y="36830"/>
                    <a:pt x="365144" y="50800"/>
                  </a:cubicBezTo>
                  <a:cubicBezTo>
                    <a:pt x="371494" y="63500"/>
                    <a:pt x="370224" y="87630"/>
                    <a:pt x="370224" y="87630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7461885" y="2463165"/>
            <a:ext cx="403860" cy="203835"/>
            <a:chOff x="0" y="0"/>
            <a:chExt cx="538480" cy="2717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48098" y="41487"/>
              <a:ext cx="441360" cy="184764"/>
            </a:xfrm>
            <a:custGeom>
              <a:avLst/>
              <a:gdLst/>
              <a:ahLst/>
              <a:cxnLst/>
              <a:rect r="r" b="b" t="t" l="l"/>
              <a:pathLst>
                <a:path h="184764" w="441360">
                  <a:moveTo>
                    <a:pt x="369732" y="159173"/>
                  </a:moveTo>
                  <a:cubicBezTo>
                    <a:pt x="175422" y="182033"/>
                    <a:pt x="94142" y="193463"/>
                    <a:pt x="56042" y="176953"/>
                  </a:cubicBezTo>
                  <a:cubicBezTo>
                    <a:pt x="29372" y="165523"/>
                    <a:pt x="10322" y="141393"/>
                    <a:pt x="2702" y="121073"/>
                  </a:cubicBezTo>
                  <a:cubicBezTo>
                    <a:pt x="-2378" y="104563"/>
                    <a:pt x="162" y="84243"/>
                    <a:pt x="6512" y="69003"/>
                  </a:cubicBezTo>
                  <a:cubicBezTo>
                    <a:pt x="11592" y="53763"/>
                    <a:pt x="25562" y="37253"/>
                    <a:pt x="39532" y="29633"/>
                  </a:cubicBezTo>
                  <a:cubicBezTo>
                    <a:pt x="53502" y="20743"/>
                    <a:pt x="73822" y="15663"/>
                    <a:pt x="90332" y="18203"/>
                  </a:cubicBezTo>
                  <a:cubicBezTo>
                    <a:pt x="106842" y="19473"/>
                    <a:pt x="125892" y="27093"/>
                    <a:pt x="137322" y="39793"/>
                  </a:cubicBezTo>
                  <a:cubicBezTo>
                    <a:pt x="152562" y="55033"/>
                    <a:pt x="166532" y="90593"/>
                    <a:pt x="162722" y="112183"/>
                  </a:cubicBezTo>
                  <a:cubicBezTo>
                    <a:pt x="158912" y="135043"/>
                    <a:pt x="136052" y="164253"/>
                    <a:pt x="115732" y="173143"/>
                  </a:cubicBezTo>
                  <a:cubicBezTo>
                    <a:pt x="95412" y="183303"/>
                    <a:pt x="58582" y="178223"/>
                    <a:pt x="39532" y="169333"/>
                  </a:cubicBezTo>
                  <a:cubicBezTo>
                    <a:pt x="24292" y="161713"/>
                    <a:pt x="11592" y="145203"/>
                    <a:pt x="6512" y="129963"/>
                  </a:cubicBezTo>
                  <a:cubicBezTo>
                    <a:pt x="162" y="113453"/>
                    <a:pt x="-1108" y="93133"/>
                    <a:pt x="2702" y="77893"/>
                  </a:cubicBezTo>
                  <a:cubicBezTo>
                    <a:pt x="7782" y="61383"/>
                    <a:pt x="19212" y="43603"/>
                    <a:pt x="31912" y="34713"/>
                  </a:cubicBezTo>
                  <a:cubicBezTo>
                    <a:pt x="45882" y="24553"/>
                    <a:pt x="57312" y="22013"/>
                    <a:pt x="81442" y="16933"/>
                  </a:cubicBezTo>
                  <a:cubicBezTo>
                    <a:pt x="141132" y="6773"/>
                    <a:pt x="340522" y="-11007"/>
                    <a:pt x="393862" y="9313"/>
                  </a:cubicBezTo>
                  <a:cubicBezTo>
                    <a:pt x="416722" y="18203"/>
                    <a:pt x="426882" y="32173"/>
                    <a:pt x="434502" y="47413"/>
                  </a:cubicBezTo>
                  <a:cubicBezTo>
                    <a:pt x="442122" y="62653"/>
                    <a:pt x="443392" y="85513"/>
                    <a:pt x="438312" y="102023"/>
                  </a:cubicBezTo>
                  <a:cubicBezTo>
                    <a:pt x="434502" y="118533"/>
                    <a:pt x="417992" y="137583"/>
                    <a:pt x="405292" y="146473"/>
                  </a:cubicBezTo>
                  <a:cubicBezTo>
                    <a:pt x="395132" y="154093"/>
                    <a:pt x="369732" y="159173"/>
                    <a:pt x="369732" y="159173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Freeform 28" id="28"/>
          <p:cNvSpPr/>
          <p:nvPr/>
        </p:nvSpPr>
        <p:spPr>
          <a:xfrm flipH="false" flipV="false" rot="0">
            <a:off x="3913803" y="2608175"/>
            <a:ext cx="2643207" cy="738318"/>
          </a:xfrm>
          <a:custGeom>
            <a:avLst/>
            <a:gdLst/>
            <a:ahLst/>
            <a:cxnLst/>
            <a:rect r="r" b="b" t="t" l="l"/>
            <a:pathLst>
              <a:path h="738318" w="2643207">
                <a:moveTo>
                  <a:pt x="0" y="0"/>
                </a:moveTo>
                <a:lnTo>
                  <a:pt x="2643207" y="0"/>
                </a:lnTo>
                <a:lnTo>
                  <a:pt x="2643207" y="738318"/>
                </a:lnTo>
                <a:lnTo>
                  <a:pt x="0" y="738318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-171438" t="-496021" r="-175416" b="-313841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3464052" y="170145"/>
            <a:ext cx="5371662" cy="6347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b="true" sz="3602" i="true">
                <a:solidFill>
                  <a:srgbClr val="000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IMPACT AND BENEFITS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5121907" y="6418745"/>
            <a:ext cx="2302707" cy="217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@SIH Idea submission-Template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407397" y="6418745"/>
            <a:ext cx="86430" cy="217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b="true" sz="1200" i="true">
                <a:solidFill>
                  <a:srgbClr val="FFFF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5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301114" y="426444"/>
            <a:ext cx="933631" cy="471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34"/>
              </a:lnSpc>
            </a:pPr>
            <a:r>
              <a:rPr lang="en-US" b="true" sz="1524" i="true" spc="15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LOOSE </a:t>
            </a:r>
          </a:p>
          <a:p>
            <a:pPr algn="ctr">
              <a:lnSpc>
                <a:spcPts val="1591"/>
              </a:lnSpc>
              <a:spcBef>
                <a:spcPct val="0"/>
              </a:spcBef>
            </a:pPr>
            <a:r>
              <a:rPr lang="en-US" b="true" sz="1137" i="true" spc="11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      SCREWS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8809724" y="3205617"/>
            <a:ext cx="1688971" cy="366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24"/>
              </a:lnSpc>
              <a:spcBef>
                <a:spcPct val="0"/>
              </a:spcBef>
            </a:pPr>
            <a:r>
              <a:rPr lang="en-US" b="true" sz="2088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IMPACTS 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012149" y="1241376"/>
            <a:ext cx="1047393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99"/>
              </a:lnSpc>
              <a:spcBef>
                <a:spcPct val="0"/>
              </a:spcBef>
            </a:pPr>
            <a:r>
              <a:rPr lang="en-US" b="true" sz="14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ECONOMIC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805038" y="3010324"/>
            <a:ext cx="1165265" cy="259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b="true" sz="13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WORLFORCE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8954625" y="4831877"/>
            <a:ext cx="1442442" cy="28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b="true" sz="15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SOCIAL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7003040" y="3014838"/>
            <a:ext cx="1511337" cy="259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b="true" sz="13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OPERATIONAL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7098942" y="3352799"/>
            <a:ext cx="1319531" cy="3813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4"/>
              </a:lnSpc>
            </a:pPr>
            <a:r>
              <a:rPr lang="en-US" sz="1110" i="true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0 COLLISIONS</a:t>
            </a:r>
          </a:p>
          <a:p>
            <a:pPr algn="ctr">
              <a:lnSpc>
                <a:spcPts val="1554"/>
              </a:lnSpc>
              <a:spcBef>
                <a:spcPct val="0"/>
              </a:spcBef>
            </a:pPr>
            <a:r>
              <a:rPr lang="en-US" sz="1110" i="true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93 Completion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717465" y="3275089"/>
            <a:ext cx="1252838" cy="3811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69"/>
              </a:lnSpc>
            </a:pPr>
            <a:r>
              <a:rPr lang="en-US" sz="1120" i="true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New roles</a:t>
            </a:r>
          </a:p>
          <a:p>
            <a:pPr algn="ctr">
              <a:lnSpc>
                <a:spcPts val="1569"/>
              </a:lnSpc>
              <a:spcBef>
                <a:spcPct val="0"/>
              </a:spcBef>
            </a:pPr>
            <a:r>
              <a:rPr lang="en-US" sz="1120" i="true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+ skillings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8911231" y="5142138"/>
            <a:ext cx="1485958" cy="426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199" i="true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Safer shared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199" i="true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floors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8788634" y="1526296"/>
            <a:ext cx="1485958" cy="426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200" i="true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low -cost hardware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i="true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fast ROI</a:t>
            </a:r>
          </a:p>
        </p:txBody>
      </p:sp>
      <p:sp>
        <p:nvSpPr>
          <p:cNvPr name="TextBox 42" id="42"/>
          <p:cNvSpPr txBox="true"/>
          <p:nvPr/>
        </p:nvSpPr>
        <p:spPr>
          <a:xfrm rot="-696817">
            <a:off x="33479" y="779831"/>
            <a:ext cx="506508" cy="966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726"/>
              </a:lnSpc>
              <a:spcBef>
                <a:spcPct val="0"/>
              </a:spcBef>
            </a:pPr>
            <a:r>
              <a:rPr lang="en-US" b="true" sz="5518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B</a:t>
            </a:r>
          </a:p>
        </p:txBody>
      </p:sp>
      <p:sp>
        <p:nvSpPr>
          <p:cNvPr name="TextBox 43" id="43"/>
          <p:cNvSpPr txBox="true"/>
          <p:nvPr/>
        </p:nvSpPr>
        <p:spPr>
          <a:xfrm rot="-816255">
            <a:off x="286733" y="1496759"/>
            <a:ext cx="407687" cy="832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36"/>
              </a:lnSpc>
              <a:spcBef>
                <a:spcPct val="0"/>
              </a:spcBef>
            </a:pPr>
            <a:r>
              <a:rPr lang="en-US" b="true" sz="4811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E</a:t>
            </a:r>
          </a:p>
        </p:txBody>
      </p:sp>
      <p:sp>
        <p:nvSpPr>
          <p:cNvPr name="TextBox 44" id="44"/>
          <p:cNvSpPr txBox="true"/>
          <p:nvPr/>
        </p:nvSpPr>
        <p:spPr>
          <a:xfrm rot="-1403913">
            <a:off x="-80791" y="2055465"/>
            <a:ext cx="488440" cy="974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726"/>
              </a:lnSpc>
              <a:spcBef>
                <a:spcPct val="0"/>
              </a:spcBef>
            </a:pPr>
            <a:r>
              <a:rPr lang="en-US" b="true" sz="5518" i="true" strike="noStrike" u="non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N</a:t>
            </a:r>
          </a:p>
        </p:txBody>
      </p:sp>
      <p:sp>
        <p:nvSpPr>
          <p:cNvPr name="TextBox 45" id="45"/>
          <p:cNvSpPr txBox="true"/>
          <p:nvPr/>
        </p:nvSpPr>
        <p:spPr>
          <a:xfrm rot="1718707">
            <a:off x="299948" y="2678015"/>
            <a:ext cx="462935" cy="863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65"/>
              </a:lnSpc>
              <a:spcBef>
                <a:spcPct val="0"/>
              </a:spcBef>
            </a:pPr>
            <a:r>
              <a:rPr lang="en-US" b="true" sz="4975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E</a:t>
            </a:r>
          </a:p>
        </p:txBody>
      </p:sp>
      <p:sp>
        <p:nvSpPr>
          <p:cNvPr name="TextBox 46" id="46"/>
          <p:cNvSpPr txBox="true"/>
          <p:nvPr/>
        </p:nvSpPr>
        <p:spPr>
          <a:xfrm rot="-2040329">
            <a:off x="-17371" y="3389881"/>
            <a:ext cx="463105" cy="863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65"/>
              </a:lnSpc>
              <a:spcBef>
                <a:spcPct val="0"/>
              </a:spcBef>
            </a:pPr>
            <a:r>
              <a:rPr lang="en-US" b="true" sz="4975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F</a:t>
            </a:r>
          </a:p>
        </p:txBody>
      </p:sp>
      <p:sp>
        <p:nvSpPr>
          <p:cNvPr name="TextBox 47" id="47"/>
          <p:cNvSpPr txBox="true"/>
          <p:nvPr/>
        </p:nvSpPr>
        <p:spPr>
          <a:xfrm rot="349029">
            <a:off x="326038" y="3670433"/>
            <a:ext cx="436486" cy="820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65"/>
              </a:lnSpc>
              <a:spcBef>
                <a:spcPct val="0"/>
              </a:spcBef>
            </a:pPr>
            <a:r>
              <a:rPr lang="en-US" b="true" sz="468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I</a:t>
            </a:r>
          </a:p>
        </p:txBody>
      </p:sp>
      <p:sp>
        <p:nvSpPr>
          <p:cNvPr name="TextBox 48" id="48"/>
          <p:cNvSpPr txBox="true"/>
          <p:nvPr/>
        </p:nvSpPr>
        <p:spPr>
          <a:xfrm rot="-2069723">
            <a:off x="50505" y="4376660"/>
            <a:ext cx="436486" cy="820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65"/>
              </a:lnSpc>
              <a:spcBef>
                <a:spcPct val="0"/>
              </a:spcBef>
            </a:pPr>
            <a:r>
              <a:rPr lang="en-US" b="true" sz="468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T</a:t>
            </a:r>
          </a:p>
        </p:txBody>
      </p:sp>
      <p:sp>
        <p:nvSpPr>
          <p:cNvPr name="TextBox 49" id="49"/>
          <p:cNvSpPr txBox="true"/>
          <p:nvPr/>
        </p:nvSpPr>
        <p:spPr>
          <a:xfrm rot="1281405">
            <a:off x="238602" y="4984518"/>
            <a:ext cx="436486" cy="820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65"/>
              </a:lnSpc>
              <a:spcBef>
                <a:spcPct val="0"/>
              </a:spcBef>
            </a:pPr>
            <a:r>
              <a:rPr lang="en-US" b="true" sz="468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S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504019" y="1569595"/>
            <a:ext cx="3083052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99"/>
              </a:lnSpc>
            </a:pPr>
            <a:r>
              <a:rPr lang="en-US" b="true" sz="14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Reduced </a:t>
            </a:r>
          </a:p>
          <a:p>
            <a:pPr algn="ctr">
              <a:lnSpc>
                <a:spcPts val="2099"/>
              </a:lnSpc>
              <a:spcBef>
                <a:spcPct val="0"/>
              </a:spcBef>
            </a:pPr>
            <a:r>
              <a:rPr lang="en-US" b="true" sz="14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operational downtime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538489" y="2379899"/>
            <a:ext cx="3083052" cy="515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59"/>
              </a:lnSpc>
              <a:spcBef>
                <a:spcPct val="0"/>
              </a:spcBef>
            </a:pPr>
            <a:r>
              <a:rPr lang="en-US" b="true" sz="1399" i="true" strike="noStrike" u="non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Improved Warehouse </a:t>
            </a:r>
          </a:p>
          <a:p>
            <a:pPr algn="ctr" marL="0" indent="0" lvl="0">
              <a:lnSpc>
                <a:spcPts val="2099"/>
              </a:lnSpc>
              <a:spcBef>
                <a:spcPct val="0"/>
              </a:spcBef>
            </a:pPr>
            <a:r>
              <a:rPr lang="en-US" b="true" sz="1499" i="true" strike="noStrike" u="non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ThroughOut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504019" y="4347474"/>
            <a:ext cx="3083052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099"/>
              </a:lnSpc>
              <a:spcBef>
                <a:spcPct val="0"/>
              </a:spcBef>
            </a:pPr>
            <a:r>
              <a:rPr lang="en-US" b="true" sz="1499" i="true" strike="noStrike" u="non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Lower Maintenance </a:t>
            </a:r>
          </a:p>
          <a:p>
            <a:pPr algn="ctr" marL="0" indent="0" lvl="0">
              <a:lnSpc>
                <a:spcPts val="2099"/>
              </a:lnSpc>
              <a:spcBef>
                <a:spcPct val="0"/>
              </a:spcBef>
            </a:pPr>
            <a:r>
              <a:rPr lang="en-US" b="true" sz="1499" i="true" strike="noStrike" u="non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Costs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504019" y="5226150"/>
            <a:ext cx="3083052" cy="515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59"/>
              </a:lnSpc>
              <a:spcBef>
                <a:spcPct val="0"/>
              </a:spcBef>
            </a:pPr>
            <a:r>
              <a:rPr lang="en-US" b="true" sz="1399" i="true" strike="noStrike" u="non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Defense-Grade Edge </a:t>
            </a:r>
          </a:p>
          <a:p>
            <a:pPr algn="ctr" marL="0" indent="0" lvl="0">
              <a:lnSpc>
                <a:spcPts val="2099"/>
              </a:lnSpc>
              <a:spcBef>
                <a:spcPct val="0"/>
              </a:spcBef>
            </a:pPr>
            <a:r>
              <a:rPr lang="en-US" b="true" sz="1499" i="true" strike="noStrike" u="non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Intelligence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409575" y="3387354"/>
            <a:ext cx="3054477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099"/>
              </a:lnSpc>
              <a:spcBef>
                <a:spcPct val="0"/>
              </a:spcBef>
            </a:pPr>
            <a:r>
              <a:rPr lang="en-US" b="true" sz="1499" i="true" strike="noStrike" u="non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Enhanced Safety &amp; </a:t>
            </a:r>
          </a:p>
          <a:p>
            <a:pPr algn="ctr" marL="0" indent="0" lvl="0">
              <a:lnSpc>
                <a:spcPts val="2099"/>
              </a:lnSpc>
              <a:spcBef>
                <a:spcPct val="0"/>
              </a:spcBef>
            </a:pPr>
            <a:r>
              <a:rPr lang="en-US" b="true" sz="1499" i="true" strike="noStrike" u="non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Collision Prevention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6376416"/>
            <a:ext cx="12187171" cy="476860"/>
            <a:chOff x="0" y="0"/>
            <a:chExt cx="16249561" cy="63581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249523" cy="635762"/>
            </a:xfrm>
            <a:custGeom>
              <a:avLst/>
              <a:gdLst/>
              <a:ahLst/>
              <a:cxnLst/>
              <a:rect r="r" b="b" t="t" l="l"/>
              <a:pathLst>
                <a:path h="635762" w="16249523">
                  <a:moveTo>
                    <a:pt x="0" y="0"/>
                  </a:moveTo>
                  <a:lnTo>
                    <a:pt x="16249523" y="0"/>
                  </a:lnTo>
                  <a:lnTo>
                    <a:pt x="16249523" y="635762"/>
                  </a:lnTo>
                  <a:lnTo>
                    <a:pt x="0" y="6357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7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0" y="6355080"/>
            <a:ext cx="12192000" cy="502920"/>
          </a:xfrm>
          <a:custGeom>
            <a:avLst/>
            <a:gdLst/>
            <a:ahLst/>
            <a:cxnLst/>
            <a:rect r="r" b="b" t="t" l="l"/>
            <a:pathLst>
              <a:path h="502920" w="12192000">
                <a:moveTo>
                  <a:pt x="0" y="0"/>
                </a:moveTo>
                <a:lnTo>
                  <a:pt x="12192000" y="0"/>
                </a:lnTo>
                <a:lnTo>
                  <a:pt x="12192000" y="502920"/>
                </a:lnTo>
                <a:lnTo>
                  <a:pt x="0" y="5029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53489" y="177289"/>
            <a:ext cx="1404109" cy="959101"/>
          </a:xfrm>
          <a:custGeom>
            <a:avLst/>
            <a:gdLst/>
            <a:ahLst/>
            <a:cxnLst/>
            <a:rect r="r" b="b" t="t" l="l"/>
            <a:pathLst>
              <a:path h="959101" w="1404109">
                <a:moveTo>
                  <a:pt x="0" y="0"/>
                </a:moveTo>
                <a:lnTo>
                  <a:pt x="1404109" y="0"/>
                </a:lnTo>
                <a:lnTo>
                  <a:pt x="1404109" y="959101"/>
                </a:lnTo>
                <a:lnTo>
                  <a:pt x="0" y="95910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9841992" y="57912"/>
            <a:ext cx="2209800" cy="1121664"/>
            <a:chOff x="0" y="0"/>
            <a:chExt cx="2946400" cy="149555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946400" cy="1495552"/>
            </a:xfrm>
            <a:custGeom>
              <a:avLst/>
              <a:gdLst/>
              <a:ahLst/>
              <a:cxnLst/>
              <a:rect r="r" b="b" t="t" l="l"/>
              <a:pathLst>
                <a:path h="1495552" w="2946400">
                  <a:moveTo>
                    <a:pt x="0" y="0"/>
                  </a:moveTo>
                  <a:lnTo>
                    <a:pt x="2946400" y="0"/>
                  </a:lnTo>
                  <a:lnTo>
                    <a:pt x="2946400" y="1495552"/>
                  </a:lnTo>
                  <a:lnTo>
                    <a:pt x="0" y="149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3156387">
            <a:off x="1064261" y="446535"/>
            <a:ext cx="548517" cy="383962"/>
          </a:xfrm>
          <a:custGeom>
            <a:avLst/>
            <a:gdLst/>
            <a:ahLst/>
            <a:cxnLst/>
            <a:rect r="r" b="b" t="t" l="l"/>
            <a:pathLst>
              <a:path h="383962" w="548517">
                <a:moveTo>
                  <a:pt x="0" y="0"/>
                </a:moveTo>
                <a:lnTo>
                  <a:pt x="548516" y="0"/>
                </a:lnTo>
                <a:lnTo>
                  <a:pt x="548516" y="383961"/>
                </a:lnTo>
                <a:lnTo>
                  <a:pt x="0" y="38396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253489" y="1995685"/>
            <a:ext cx="3844405" cy="3748295"/>
          </a:xfrm>
          <a:custGeom>
            <a:avLst/>
            <a:gdLst/>
            <a:ahLst/>
            <a:cxnLst/>
            <a:rect r="r" b="b" t="t" l="l"/>
            <a:pathLst>
              <a:path h="3748295" w="3844405">
                <a:moveTo>
                  <a:pt x="0" y="0"/>
                </a:moveTo>
                <a:lnTo>
                  <a:pt x="3844405" y="0"/>
                </a:lnTo>
                <a:lnTo>
                  <a:pt x="3844405" y="3748295"/>
                </a:lnTo>
                <a:lnTo>
                  <a:pt x="0" y="374829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72979" y="1179576"/>
            <a:ext cx="782564" cy="684744"/>
          </a:xfrm>
          <a:custGeom>
            <a:avLst/>
            <a:gdLst/>
            <a:ahLst/>
            <a:cxnLst/>
            <a:rect r="r" b="b" t="t" l="l"/>
            <a:pathLst>
              <a:path h="684744" w="782564">
                <a:moveTo>
                  <a:pt x="0" y="0"/>
                </a:moveTo>
                <a:lnTo>
                  <a:pt x="782564" y="0"/>
                </a:lnTo>
                <a:lnTo>
                  <a:pt x="782564" y="684744"/>
                </a:lnTo>
                <a:lnTo>
                  <a:pt x="0" y="68474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312368" y="1995685"/>
            <a:ext cx="746864" cy="631100"/>
          </a:xfrm>
          <a:custGeom>
            <a:avLst/>
            <a:gdLst/>
            <a:ahLst/>
            <a:cxnLst/>
            <a:rect r="r" b="b" t="t" l="l"/>
            <a:pathLst>
              <a:path h="631100" w="746864">
                <a:moveTo>
                  <a:pt x="0" y="0"/>
                </a:moveTo>
                <a:lnTo>
                  <a:pt x="746864" y="0"/>
                </a:lnTo>
                <a:lnTo>
                  <a:pt x="746864" y="631101"/>
                </a:lnTo>
                <a:lnTo>
                  <a:pt x="0" y="63110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412822" y="2695026"/>
            <a:ext cx="568830" cy="733974"/>
          </a:xfrm>
          <a:custGeom>
            <a:avLst/>
            <a:gdLst/>
            <a:ahLst/>
            <a:cxnLst/>
            <a:rect r="r" b="b" t="t" l="l"/>
            <a:pathLst>
              <a:path h="733974" w="568830">
                <a:moveTo>
                  <a:pt x="0" y="0"/>
                </a:moveTo>
                <a:lnTo>
                  <a:pt x="568830" y="0"/>
                </a:lnTo>
                <a:lnTo>
                  <a:pt x="568830" y="733974"/>
                </a:lnTo>
                <a:lnTo>
                  <a:pt x="0" y="73397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412822" y="3562350"/>
            <a:ext cx="480058" cy="585436"/>
          </a:xfrm>
          <a:custGeom>
            <a:avLst/>
            <a:gdLst/>
            <a:ahLst/>
            <a:cxnLst/>
            <a:rect r="r" b="b" t="t" l="l"/>
            <a:pathLst>
              <a:path h="585436" w="480058">
                <a:moveTo>
                  <a:pt x="0" y="0"/>
                </a:moveTo>
                <a:lnTo>
                  <a:pt x="480058" y="0"/>
                </a:lnTo>
                <a:lnTo>
                  <a:pt x="480058" y="585436"/>
                </a:lnTo>
                <a:lnTo>
                  <a:pt x="0" y="585436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361510" y="4271470"/>
            <a:ext cx="531370" cy="614301"/>
          </a:xfrm>
          <a:custGeom>
            <a:avLst/>
            <a:gdLst/>
            <a:ahLst/>
            <a:cxnLst/>
            <a:rect r="r" b="b" t="t" l="l"/>
            <a:pathLst>
              <a:path h="614301" w="531370">
                <a:moveTo>
                  <a:pt x="0" y="0"/>
                </a:moveTo>
                <a:lnTo>
                  <a:pt x="531370" y="0"/>
                </a:lnTo>
                <a:lnTo>
                  <a:pt x="531370" y="614301"/>
                </a:lnTo>
                <a:lnTo>
                  <a:pt x="0" y="61430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394638" y="5095321"/>
            <a:ext cx="473705" cy="595856"/>
          </a:xfrm>
          <a:custGeom>
            <a:avLst/>
            <a:gdLst/>
            <a:ahLst/>
            <a:cxnLst/>
            <a:rect r="r" b="b" t="t" l="l"/>
            <a:pathLst>
              <a:path h="595856" w="473705">
                <a:moveTo>
                  <a:pt x="0" y="0"/>
                </a:moveTo>
                <a:lnTo>
                  <a:pt x="473706" y="0"/>
                </a:lnTo>
                <a:lnTo>
                  <a:pt x="473706" y="595856"/>
                </a:lnTo>
                <a:lnTo>
                  <a:pt x="0" y="595856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3773874" y="685800"/>
            <a:ext cx="935625" cy="1207258"/>
          </a:xfrm>
          <a:custGeom>
            <a:avLst/>
            <a:gdLst/>
            <a:ahLst/>
            <a:cxnLst/>
            <a:rect r="r" b="b" t="t" l="l"/>
            <a:pathLst>
              <a:path h="1207258" w="935625">
                <a:moveTo>
                  <a:pt x="0" y="0"/>
                </a:moveTo>
                <a:lnTo>
                  <a:pt x="935625" y="0"/>
                </a:lnTo>
                <a:lnTo>
                  <a:pt x="935625" y="1207258"/>
                </a:lnTo>
                <a:lnTo>
                  <a:pt x="0" y="1207258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17" id="17"/>
          <p:cNvPicPr>
            <a:picLocks noChangeAspect="true"/>
          </p:cNvPicPr>
          <p:nvPr/>
        </p:nvPicPr>
        <p:blipFill>
          <a:blip r:embed="rId24"/>
          <a:srcRect l="0" t="0" r="0" b="0"/>
          <a:stretch>
            <a:fillRect/>
          </a:stretch>
        </p:blipFill>
        <p:spPr>
          <a:xfrm flipH="false" flipV="false" rot="0">
            <a:off x="8513115" y="1241770"/>
            <a:ext cx="3419035" cy="4683610"/>
          </a:xfrm>
          <a:prstGeom prst="rect">
            <a:avLst/>
          </a:prstGeom>
        </p:spPr>
      </p:pic>
      <p:sp>
        <p:nvSpPr>
          <p:cNvPr name="Freeform 18" id="18"/>
          <p:cNvSpPr/>
          <p:nvPr/>
        </p:nvSpPr>
        <p:spPr>
          <a:xfrm flipH="false" flipV="false" rot="0">
            <a:off x="8826616" y="1685160"/>
            <a:ext cx="497252" cy="445040"/>
          </a:xfrm>
          <a:custGeom>
            <a:avLst/>
            <a:gdLst/>
            <a:ahLst/>
            <a:cxnLst/>
            <a:rect r="r" b="b" t="t" l="l"/>
            <a:pathLst>
              <a:path h="445040" w="497252">
                <a:moveTo>
                  <a:pt x="0" y="0"/>
                </a:moveTo>
                <a:lnTo>
                  <a:pt x="497252" y="0"/>
                </a:lnTo>
                <a:lnTo>
                  <a:pt x="497252" y="445040"/>
                </a:lnTo>
                <a:lnTo>
                  <a:pt x="0" y="445040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0838076" y="1635693"/>
            <a:ext cx="902860" cy="446916"/>
          </a:xfrm>
          <a:custGeom>
            <a:avLst/>
            <a:gdLst/>
            <a:ahLst/>
            <a:cxnLst/>
            <a:rect r="r" b="b" t="t" l="l"/>
            <a:pathLst>
              <a:path h="446916" w="902860">
                <a:moveTo>
                  <a:pt x="0" y="0"/>
                </a:moveTo>
                <a:lnTo>
                  <a:pt x="902861" y="0"/>
                </a:lnTo>
                <a:lnTo>
                  <a:pt x="902861" y="446916"/>
                </a:lnTo>
                <a:lnTo>
                  <a:pt x="0" y="44691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8940916" y="2130200"/>
            <a:ext cx="524496" cy="524496"/>
          </a:xfrm>
          <a:custGeom>
            <a:avLst/>
            <a:gdLst/>
            <a:ahLst/>
            <a:cxnLst/>
            <a:rect r="r" b="b" t="t" l="l"/>
            <a:pathLst>
              <a:path h="524496" w="524496">
                <a:moveTo>
                  <a:pt x="0" y="0"/>
                </a:moveTo>
                <a:lnTo>
                  <a:pt x="524496" y="0"/>
                </a:lnTo>
                <a:lnTo>
                  <a:pt x="524496" y="524496"/>
                </a:lnTo>
                <a:lnTo>
                  <a:pt x="0" y="524496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8852570" y="3110456"/>
            <a:ext cx="701188" cy="590109"/>
          </a:xfrm>
          <a:custGeom>
            <a:avLst/>
            <a:gdLst/>
            <a:ahLst/>
            <a:cxnLst/>
            <a:rect r="r" b="b" t="t" l="l"/>
            <a:pathLst>
              <a:path h="590109" w="701188">
                <a:moveTo>
                  <a:pt x="0" y="0"/>
                </a:moveTo>
                <a:lnTo>
                  <a:pt x="701188" y="0"/>
                </a:lnTo>
                <a:lnTo>
                  <a:pt x="701188" y="590109"/>
                </a:lnTo>
                <a:lnTo>
                  <a:pt x="0" y="590109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0838076" y="3604861"/>
            <a:ext cx="768297" cy="629687"/>
          </a:xfrm>
          <a:custGeom>
            <a:avLst/>
            <a:gdLst/>
            <a:ahLst/>
            <a:cxnLst/>
            <a:rect r="r" b="b" t="t" l="l"/>
            <a:pathLst>
              <a:path h="629687" w="768297">
                <a:moveTo>
                  <a:pt x="0" y="0"/>
                </a:moveTo>
                <a:lnTo>
                  <a:pt x="768298" y="0"/>
                </a:lnTo>
                <a:lnTo>
                  <a:pt x="768298" y="629687"/>
                </a:lnTo>
                <a:lnTo>
                  <a:pt x="0" y="629687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8896850" y="4271470"/>
            <a:ext cx="612629" cy="564939"/>
          </a:xfrm>
          <a:custGeom>
            <a:avLst/>
            <a:gdLst/>
            <a:ahLst/>
            <a:cxnLst/>
            <a:rect r="r" b="b" t="t" l="l"/>
            <a:pathLst>
              <a:path h="564939" w="612629">
                <a:moveTo>
                  <a:pt x="0" y="0"/>
                </a:moveTo>
                <a:lnTo>
                  <a:pt x="612629" y="0"/>
                </a:lnTo>
                <a:lnTo>
                  <a:pt x="612629" y="564940"/>
                </a:lnTo>
                <a:lnTo>
                  <a:pt x="0" y="56494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4" id="24"/>
          <p:cNvSpPr/>
          <p:nvPr/>
        </p:nvSpPr>
        <p:spPr>
          <a:xfrm flipH="false" flipV="false" rot="0">
            <a:off x="10970410" y="4885771"/>
            <a:ext cx="523417" cy="561296"/>
          </a:xfrm>
          <a:custGeom>
            <a:avLst/>
            <a:gdLst/>
            <a:ahLst/>
            <a:cxnLst/>
            <a:rect r="r" b="b" t="t" l="l"/>
            <a:pathLst>
              <a:path h="561296" w="523417">
                <a:moveTo>
                  <a:pt x="0" y="0"/>
                </a:moveTo>
                <a:lnTo>
                  <a:pt x="523417" y="0"/>
                </a:lnTo>
                <a:lnTo>
                  <a:pt x="523417" y="561296"/>
                </a:lnTo>
                <a:lnTo>
                  <a:pt x="0" y="561296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0937217" y="2626786"/>
            <a:ext cx="570016" cy="538735"/>
          </a:xfrm>
          <a:custGeom>
            <a:avLst/>
            <a:gdLst/>
            <a:ahLst/>
            <a:cxnLst/>
            <a:rect r="r" b="b" t="t" l="l"/>
            <a:pathLst>
              <a:path h="538735" w="570016">
                <a:moveTo>
                  <a:pt x="0" y="0"/>
                </a:moveTo>
                <a:lnTo>
                  <a:pt x="570016" y="0"/>
                </a:lnTo>
                <a:lnTo>
                  <a:pt x="570016" y="538735"/>
                </a:lnTo>
                <a:lnTo>
                  <a:pt x="0" y="53873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7642681" y="1211942"/>
            <a:ext cx="779247" cy="870667"/>
          </a:xfrm>
          <a:custGeom>
            <a:avLst/>
            <a:gdLst/>
            <a:ahLst/>
            <a:cxnLst/>
            <a:rect r="r" b="b" t="t" l="l"/>
            <a:pathLst>
              <a:path h="870667" w="779247">
                <a:moveTo>
                  <a:pt x="0" y="0"/>
                </a:moveTo>
                <a:lnTo>
                  <a:pt x="779247" y="0"/>
                </a:lnTo>
                <a:lnTo>
                  <a:pt x="779247" y="870667"/>
                </a:lnTo>
                <a:lnTo>
                  <a:pt x="0" y="870667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4776174" y="1391816"/>
            <a:ext cx="625168" cy="690793"/>
          </a:xfrm>
          <a:custGeom>
            <a:avLst/>
            <a:gdLst/>
            <a:ahLst/>
            <a:cxnLst/>
            <a:rect r="r" b="b" t="t" l="l"/>
            <a:pathLst>
              <a:path h="690793" w="625168">
                <a:moveTo>
                  <a:pt x="0" y="0"/>
                </a:moveTo>
                <a:lnTo>
                  <a:pt x="625168" y="0"/>
                </a:lnTo>
                <a:lnTo>
                  <a:pt x="625168" y="690793"/>
                </a:lnTo>
                <a:lnTo>
                  <a:pt x="0" y="690793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7561650">
            <a:off x="3992133" y="2086952"/>
            <a:ext cx="766731" cy="536712"/>
          </a:xfrm>
          <a:custGeom>
            <a:avLst/>
            <a:gdLst/>
            <a:ahLst/>
            <a:cxnLst/>
            <a:rect r="r" b="b" t="t" l="l"/>
            <a:pathLst>
              <a:path h="536712" w="766731">
                <a:moveTo>
                  <a:pt x="0" y="0"/>
                </a:moveTo>
                <a:lnTo>
                  <a:pt x="766732" y="0"/>
                </a:lnTo>
                <a:lnTo>
                  <a:pt x="766732" y="536712"/>
                </a:lnTo>
                <a:lnTo>
                  <a:pt x="0" y="53671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7561650">
            <a:off x="3992133" y="2779940"/>
            <a:ext cx="766731" cy="536712"/>
          </a:xfrm>
          <a:custGeom>
            <a:avLst/>
            <a:gdLst/>
            <a:ahLst/>
            <a:cxnLst/>
            <a:rect r="r" b="b" t="t" l="l"/>
            <a:pathLst>
              <a:path h="536712" w="766731">
                <a:moveTo>
                  <a:pt x="0" y="0"/>
                </a:moveTo>
                <a:lnTo>
                  <a:pt x="766732" y="0"/>
                </a:lnTo>
                <a:lnTo>
                  <a:pt x="766732" y="536712"/>
                </a:lnTo>
                <a:lnTo>
                  <a:pt x="0" y="53671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7561650">
            <a:off x="3992133" y="3432209"/>
            <a:ext cx="766731" cy="536712"/>
          </a:xfrm>
          <a:custGeom>
            <a:avLst/>
            <a:gdLst/>
            <a:ahLst/>
            <a:cxnLst/>
            <a:rect r="r" b="b" t="t" l="l"/>
            <a:pathLst>
              <a:path h="536712" w="766731">
                <a:moveTo>
                  <a:pt x="0" y="0"/>
                </a:moveTo>
                <a:lnTo>
                  <a:pt x="766732" y="0"/>
                </a:lnTo>
                <a:lnTo>
                  <a:pt x="766732" y="536712"/>
                </a:lnTo>
                <a:lnTo>
                  <a:pt x="0" y="53671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7561650">
            <a:off x="3992133" y="4269896"/>
            <a:ext cx="766731" cy="536712"/>
          </a:xfrm>
          <a:custGeom>
            <a:avLst/>
            <a:gdLst/>
            <a:ahLst/>
            <a:cxnLst/>
            <a:rect r="r" b="b" t="t" l="l"/>
            <a:pathLst>
              <a:path h="536712" w="766731">
                <a:moveTo>
                  <a:pt x="0" y="0"/>
                </a:moveTo>
                <a:lnTo>
                  <a:pt x="766732" y="0"/>
                </a:lnTo>
                <a:lnTo>
                  <a:pt x="766732" y="536712"/>
                </a:lnTo>
                <a:lnTo>
                  <a:pt x="0" y="53671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false" rot="7561650">
            <a:off x="3992133" y="5007743"/>
            <a:ext cx="766731" cy="536712"/>
          </a:xfrm>
          <a:custGeom>
            <a:avLst/>
            <a:gdLst/>
            <a:ahLst/>
            <a:cxnLst/>
            <a:rect r="r" b="b" t="t" l="l"/>
            <a:pathLst>
              <a:path h="536712" w="766731">
                <a:moveTo>
                  <a:pt x="0" y="0"/>
                </a:moveTo>
                <a:lnTo>
                  <a:pt x="766732" y="0"/>
                </a:lnTo>
                <a:lnTo>
                  <a:pt x="766732" y="536712"/>
                </a:lnTo>
                <a:lnTo>
                  <a:pt x="0" y="53671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4709499" y="2180928"/>
            <a:ext cx="3712428" cy="514098"/>
          </a:xfrm>
          <a:custGeom>
            <a:avLst/>
            <a:gdLst/>
            <a:ahLst/>
            <a:cxnLst/>
            <a:rect r="r" b="b" t="t" l="l"/>
            <a:pathLst>
              <a:path h="514098" w="3712428">
                <a:moveTo>
                  <a:pt x="0" y="0"/>
                </a:moveTo>
                <a:lnTo>
                  <a:pt x="3712429" y="0"/>
                </a:lnTo>
                <a:lnTo>
                  <a:pt x="3712429" y="514098"/>
                </a:lnTo>
                <a:lnTo>
                  <a:pt x="0" y="514098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>
              <a:fillRect l="0" t="-6370" r="-6213" b="-47028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2637787" y="170145"/>
            <a:ext cx="6661696" cy="6419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b="true" sz="3602" i="true">
                <a:solidFill>
                  <a:srgbClr val="000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RESEARCH AND REFERENCES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121907" y="6418745"/>
            <a:ext cx="2302707" cy="217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@SIH Idea submission-Template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1407397" y="6418745"/>
            <a:ext cx="86430" cy="217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b="true" sz="1200" i="true">
                <a:solidFill>
                  <a:srgbClr val="FFFF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6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301114" y="426444"/>
            <a:ext cx="933631" cy="471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34"/>
              </a:lnSpc>
            </a:pPr>
            <a:r>
              <a:rPr lang="en-US" b="true" sz="1524" i="true" spc="15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LOOSE </a:t>
            </a:r>
          </a:p>
          <a:p>
            <a:pPr algn="ctr">
              <a:lnSpc>
                <a:spcPts val="1591"/>
              </a:lnSpc>
              <a:spcBef>
                <a:spcPct val="0"/>
              </a:spcBef>
            </a:pPr>
            <a:r>
              <a:rPr lang="en-US" b="true" sz="1137" i="true" spc="11">
                <a:solidFill>
                  <a:srgbClr val="4A5458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      SCREWS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685800" y="2092100"/>
            <a:ext cx="2516905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99"/>
              </a:lnSpc>
            </a:pPr>
            <a:r>
              <a:rPr lang="en-US" b="true" sz="14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Multi-Robot </a:t>
            </a:r>
          </a:p>
          <a:p>
            <a:pPr algn="ctr">
              <a:lnSpc>
                <a:spcPts val="2099"/>
              </a:lnSpc>
              <a:spcBef>
                <a:spcPct val="0"/>
              </a:spcBef>
            </a:pPr>
            <a:r>
              <a:rPr lang="en-US" b="true" sz="14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Coordination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767929" y="2834231"/>
            <a:ext cx="2516905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99"/>
              </a:lnSpc>
            </a:pPr>
            <a:r>
              <a:rPr lang="en-US" b="true" sz="14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AI &amp; Congestion </a:t>
            </a:r>
          </a:p>
          <a:p>
            <a:pPr algn="ctr">
              <a:lnSpc>
                <a:spcPts val="2099"/>
              </a:lnSpc>
              <a:spcBef>
                <a:spcPct val="0"/>
              </a:spcBef>
            </a:pPr>
            <a:r>
              <a:rPr lang="en-US" b="true" sz="14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Prediction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943892" y="3566761"/>
            <a:ext cx="2365808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99"/>
              </a:lnSpc>
              <a:spcBef>
                <a:spcPct val="0"/>
              </a:spcBef>
            </a:pPr>
            <a:r>
              <a:rPr lang="en-US" b="true" sz="14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Conflict Directional &amp; Resolution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685800" y="4370147"/>
            <a:ext cx="2516905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99"/>
              </a:lnSpc>
              <a:spcBef>
                <a:spcPct val="0"/>
              </a:spcBef>
            </a:pPr>
            <a:r>
              <a:rPr lang="en-US" b="true" sz="14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Path Planning &amp; Optimization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868344" y="5046422"/>
            <a:ext cx="2516905" cy="507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b="true" sz="13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System Architecture &amp; scalability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892880" y="1239319"/>
            <a:ext cx="3040105" cy="779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0"/>
              </a:lnSpc>
            </a:pPr>
            <a:r>
              <a:rPr lang="en-US" sz="3512">
                <a:solidFill>
                  <a:srgbClr val="000000"/>
                </a:solidFill>
                <a:latin typeface="Aperture"/>
                <a:ea typeface="Aperture"/>
                <a:cs typeface="Aperture"/>
                <a:sym typeface="Aperture"/>
              </a:rPr>
              <a:t>KEY RESEARCH AREAS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8818546" y="1514300"/>
            <a:ext cx="3113604" cy="568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95"/>
              </a:lnSpc>
            </a:pPr>
            <a:r>
              <a:rPr lang="en-US" b="true" sz="1925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TECH STACKS &amp;</a:t>
            </a:r>
          </a:p>
          <a:p>
            <a:pPr algn="ctr">
              <a:lnSpc>
                <a:spcPts val="1855"/>
              </a:lnSpc>
              <a:spcBef>
                <a:spcPct val="0"/>
              </a:spcBef>
            </a:pPr>
            <a:r>
              <a:rPr lang="en-US" b="true" sz="1325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TOOLS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8553726" y="2588686"/>
            <a:ext cx="1889162" cy="470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99"/>
              </a:lnSpc>
            </a:pPr>
            <a:r>
              <a:rPr lang="en-US" b="true" sz="14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PYTHON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i="true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(Backend)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0465537" y="2082575"/>
            <a:ext cx="1151573" cy="497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</a:pPr>
            <a:r>
              <a:rPr lang="en-US" b="true" sz="15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FastAPI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i="true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(API Framework)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8940916" y="3731700"/>
            <a:ext cx="1001911" cy="470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99"/>
              </a:lnSpc>
            </a:pPr>
            <a:r>
              <a:rPr lang="en-US" b="true" sz="14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Websocket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i="true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(Real-time)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0025738" y="3091815"/>
            <a:ext cx="1481495" cy="470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99"/>
              </a:lnSpc>
            </a:pPr>
            <a:r>
              <a:rPr lang="en-US" b="true" sz="14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SQLite/Postgres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b="true" sz="1200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(</a:t>
            </a:r>
            <a:r>
              <a:rPr lang="en-US" sz="1200" i="true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Database</a:t>
            </a:r>
            <a:r>
              <a:rPr lang="en-US" b="true" sz="1200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)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0025738" y="4283935"/>
            <a:ext cx="1481495" cy="470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99"/>
              </a:lnSpc>
            </a:pPr>
            <a:r>
              <a:rPr lang="en-US" b="true" sz="14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React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i="true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(Frontend)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8615854" y="4864985"/>
            <a:ext cx="1699117" cy="470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99"/>
              </a:lnSpc>
            </a:pPr>
            <a:r>
              <a:rPr lang="en-US" b="true" sz="149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Framer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i="true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(Ui/Visualization)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4776174" y="1058344"/>
            <a:ext cx="3450056" cy="779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0"/>
              </a:lnSpc>
            </a:pPr>
            <a:r>
              <a:rPr lang="en-US" sz="3512">
                <a:solidFill>
                  <a:srgbClr val="000000"/>
                </a:solidFill>
                <a:latin typeface="Aperture"/>
                <a:ea typeface="Aperture"/>
                <a:cs typeface="Aperture"/>
                <a:sym typeface="Aperture"/>
              </a:rPr>
              <a:t>KEY REFERENCE</a:t>
            </a:r>
          </a:p>
          <a:p>
            <a:pPr algn="ctr">
              <a:lnSpc>
                <a:spcPts val="2880"/>
              </a:lnSpc>
            </a:pPr>
            <a:r>
              <a:rPr lang="en-US" sz="3512">
                <a:solidFill>
                  <a:srgbClr val="000000"/>
                </a:solidFill>
                <a:latin typeface="Aperture"/>
                <a:ea typeface="Aperture"/>
                <a:cs typeface="Aperture"/>
                <a:sym typeface="Aperture"/>
              </a:rPr>
              <a:t>AREAS</a:t>
            </a:r>
          </a:p>
        </p:txBody>
      </p:sp>
      <p:sp>
        <p:nvSpPr>
          <p:cNvPr name="Freeform 52" id="52"/>
          <p:cNvSpPr/>
          <p:nvPr/>
        </p:nvSpPr>
        <p:spPr>
          <a:xfrm flipH="false" flipV="false" rot="0">
            <a:off x="4709499" y="2870814"/>
            <a:ext cx="3712428" cy="514098"/>
          </a:xfrm>
          <a:custGeom>
            <a:avLst/>
            <a:gdLst/>
            <a:ahLst/>
            <a:cxnLst/>
            <a:rect r="r" b="b" t="t" l="l"/>
            <a:pathLst>
              <a:path h="514098" w="3712428">
                <a:moveTo>
                  <a:pt x="0" y="0"/>
                </a:moveTo>
                <a:lnTo>
                  <a:pt x="3712429" y="0"/>
                </a:lnTo>
                <a:lnTo>
                  <a:pt x="3712429" y="514098"/>
                </a:lnTo>
                <a:lnTo>
                  <a:pt x="0" y="514098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>
              <a:fillRect l="0" t="-6370" r="-6213" b="-47028"/>
            </a:stretch>
          </a:blipFill>
        </p:spPr>
      </p:sp>
      <p:sp>
        <p:nvSpPr>
          <p:cNvPr name="Freeform 53" id="53"/>
          <p:cNvSpPr/>
          <p:nvPr/>
        </p:nvSpPr>
        <p:spPr>
          <a:xfrm flipH="false" flipV="false" rot="0">
            <a:off x="4709499" y="3585937"/>
            <a:ext cx="3712428" cy="514098"/>
          </a:xfrm>
          <a:custGeom>
            <a:avLst/>
            <a:gdLst/>
            <a:ahLst/>
            <a:cxnLst/>
            <a:rect r="r" b="b" t="t" l="l"/>
            <a:pathLst>
              <a:path h="514098" w="3712428">
                <a:moveTo>
                  <a:pt x="0" y="0"/>
                </a:moveTo>
                <a:lnTo>
                  <a:pt x="3712429" y="0"/>
                </a:lnTo>
                <a:lnTo>
                  <a:pt x="3712429" y="514098"/>
                </a:lnTo>
                <a:lnTo>
                  <a:pt x="0" y="514098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>
              <a:fillRect l="0" t="-6370" r="-6213" b="-47028"/>
            </a:stretch>
          </a:blipFill>
        </p:spPr>
      </p:sp>
      <p:sp>
        <p:nvSpPr>
          <p:cNvPr name="Freeform 54" id="54"/>
          <p:cNvSpPr/>
          <p:nvPr/>
        </p:nvSpPr>
        <p:spPr>
          <a:xfrm flipH="false" flipV="false" rot="0">
            <a:off x="4709499" y="4371673"/>
            <a:ext cx="3712428" cy="514098"/>
          </a:xfrm>
          <a:custGeom>
            <a:avLst/>
            <a:gdLst/>
            <a:ahLst/>
            <a:cxnLst/>
            <a:rect r="r" b="b" t="t" l="l"/>
            <a:pathLst>
              <a:path h="514098" w="3712428">
                <a:moveTo>
                  <a:pt x="0" y="0"/>
                </a:moveTo>
                <a:lnTo>
                  <a:pt x="3712429" y="0"/>
                </a:lnTo>
                <a:lnTo>
                  <a:pt x="3712429" y="514098"/>
                </a:lnTo>
                <a:lnTo>
                  <a:pt x="0" y="514098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>
              <a:fillRect l="0" t="-6370" r="-6213" b="-47028"/>
            </a:stretch>
          </a:blipFill>
        </p:spPr>
      </p:sp>
      <p:sp>
        <p:nvSpPr>
          <p:cNvPr name="Freeform 55" id="55"/>
          <p:cNvSpPr/>
          <p:nvPr/>
        </p:nvSpPr>
        <p:spPr>
          <a:xfrm flipH="false" flipV="false" rot="0">
            <a:off x="4709499" y="5095321"/>
            <a:ext cx="3712428" cy="514098"/>
          </a:xfrm>
          <a:custGeom>
            <a:avLst/>
            <a:gdLst/>
            <a:ahLst/>
            <a:cxnLst/>
            <a:rect r="r" b="b" t="t" l="l"/>
            <a:pathLst>
              <a:path h="514098" w="3712428">
                <a:moveTo>
                  <a:pt x="0" y="0"/>
                </a:moveTo>
                <a:lnTo>
                  <a:pt x="3712429" y="0"/>
                </a:lnTo>
                <a:lnTo>
                  <a:pt x="3712429" y="514098"/>
                </a:lnTo>
                <a:lnTo>
                  <a:pt x="0" y="514098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>
              <a:fillRect l="0" t="-6370" r="-6213" b="-47028"/>
            </a:stretch>
          </a:blipFill>
        </p:spPr>
      </p:sp>
      <p:sp>
        <p:nvSpPr>
          <p:cNvPr name="TextBox 56" id="56"/>
          <p:cNvSpPr txBox="true"/>
          <p:nvPr/>
        </p:nvSpPr>
        <p:spPr>
          <a:xfrm rot="0">
            <a:off x="4905196" y="2190259"/>
            <a:ext cx="3364626" cy="4443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60"/>
              </a:lnSpc>
            </a:pPr>
            <a:r>
              <a:rPr lang="en-US" b="true" sz="1257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SMART IINDIA HACKATON 2025</a:t>
            </a:r>
          </a:p>
          <a:p>
            <a:pPr algn="ctr">
              <a:lnSpc>
                <a:spcPts val="1760"/>
              </a:lnSpc>
              <a:spcBef>
                <a:spcPct val="0"/>
              </a:spcBef>
            </a:pPr>
            <a:r>
              <a:rPr lang="en-US" sz="1257" i="true">
                <a:solidFill>
                  <a:srgbClr val="000000"/>
                </a:solidFill>
                <a:latin typeface="Arial Italics"/>
                <a:ea typeface="Arial Italics"/>
                <a:cs typeface="Arial Italics"/>
                <a:sym typeface="Arial Italics"/>
              </a:rPr>
              <a:t>(PROBLEM STATEMENT -BEL)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5244564" y="2864551"/>
            <a:ext cx="2587212" cy="4789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02"/>
              </a:lnSpc>
              <a:spcBef>
                <a:spcPct val="0"/>
              </a:spcBef>
            </a:pPr>
            <a:r>
              <a:rPr lang="en-US" b="true" sz="1358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Research papers on multi agent system &amp; AMRs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5347763" y="3573739"/>
            <a:ext cx="2635603" cy="5073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69"/>
              </a:lnSpc>
              <a:spcBef>
                <a:spcPct val="0"/>
              </a:spcBef>
            </a:pPr>
            <a:r>
              <a:rPr lang="en-US" b="true" sz="1478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Digital Twin Technology for smart warehouse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4861605" y="5066479"/>
            <a:ext cx="3408217" cy="326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5"/>
              </a:lnSpc>
              <a:spcBef>
                <a:spcPct val="0"/>
              </a:spcBef>
            </a:pPr>
            <a:r>
              <a:rPr lang="en-US" b="true" sz="1911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Edge Computing &amp; 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5223685" y="4338068"/>
            <a:ext cx="2808619" cy="547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05"/>
              </a:lnSpc>
            </a:pPr>
            <a:r>
              <a:rPr lang="en-US" b="true" sz="1575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AI-Based Traffic Prediction &amp;</a:t>
            </a:r>
          </a:p>
          <a:p>
            <a:pPr algn="ctr">
              <a:lnSpc>
                <a:spcPts val="2205"/>
              </a:lnSpc>
              <a:spcBef>
                <a:spcPct val="0"/>
              </a:spcBef>
            </a:pPr>
            <a:r>
              <a:rPr lang="en-US" b="true" sz="1575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path optimization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DAHUpc_kaPs</dc:identifier>
  <dcterms:modified xsi:type="dcterms:W3CDTF">2011-08-01T06:04:30Z</dcterms:modified>
  <cp:revision>1</cp:revision>
  <dc:title>LooseScrews_SIH2026_Presentation</dc:title>
</cp:coreProperties>
</file>